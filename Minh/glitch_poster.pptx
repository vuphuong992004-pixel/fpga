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60"/>
  </p:normalViewPr>
  <p:slideViewPr>
    <p:cSldViewPr snapToGrid="0">
      <p:cViewPr>
        <p:scale>
          <a:sx n="50" d="100"/>
          <a:sy n="50" d="100"/>
        </p:scale>
        <p:origin x="29"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18CD84-0D14-4492-9E3E-FD3916E264E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2804395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18CD84-0D14-4492-9E3E-FD3916E264E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244826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18CD84-0D14-4492-9E3E-FD3916E264E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2139087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18CD84-0D14-4492-9E3E-FD3916E264EE}"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177651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18CD84-0D14-4492-9E3E-FD3916E264EE}"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1832993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18CD84-0D14-4492-9E3E-FD3916E264EE}"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4162055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18CD84-0D14-4492-9E3E-FD3916E264EE}"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3656528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0318CD84-0D14-4492-9E3E-FD3916E264EE}"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1067676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0318CD84-0D14-4492-9E3E-FD3916E264EE}"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345732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18CD84-0D14-4492-9E3E-FD3916E264E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2241771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18CD84-0D14-4492-9E3E-FD3916E264EE}"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7B9530-4492-4330-86BD-F12047D16484}" type="slidenum">
              <a:rPr lang="en-US" smtClean="0"/>
              <a:t>‹#›</a:t>
            </a:fld>
            <a:endParaRPr lang="en-US"/>
          </a:p>
        </p:txBody>
      </p:sp>
    </p:spTree>
    <p:extLst>
      <p:ext uri="{BB962C8B-B14F-4D97-AF65-F5344CB8AC3E}">
        <p14:creationId xmlns:p14="http://schemas.microsoft.com/office/powerpoint/2010/main" val="3454654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0318CD84-0D14-4492-9E3E-FD3916E264EE}" type="datetimeFigureOut">
              <a:rPr lang="en-US" smtClean="0"/>
              <a:t>4/17/2026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837B9530-4492-4330-86BD-F12047D16484}" type="slidenum">
              <a:rPr lang="en-US" smtClean="0"/>
              <a:t>‹#›</a:t>
            </a:fld>
            <a:endParaRPr lang="en-US"/>
          </a:p>
        </p:txBody>
      </p:sp>
    </p:spTree>
    <p:extLst>
      <p:ext uri="{BB962C8B-B14F-4D97-AF65-F5344CB8AC3E}">
        <p14:creationId xmlns:p14="http://schemas.microsoft.com/office/powerpoint/2010/main" val="2888571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emf"/><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3">
            <a:extLst>
              <a:ext uri="{FF2B5EF4-FFF2-40B4-BE49-F238E27FC236}">
                <a16:creationId xmlns:a16="http://schemas.microsoft.com/office/drawing/2014/main" id="{4FC834D6-1CFF-7A4E-9FD5-38159FF77297}"/>
              </a:ext>
            </a:extLst>
          </p:cNvPr>
          <p:cNvSpPr>
            <a:spLocks/>
          </p:cNvSpPr>
          <p:nvPr/>
        </p:nvSpPr>
        <p:spPr>
          <a:xfrm>
            <a:off x="-275" y="0"/>
            <a:ext cx="30275213" cy="3487471"/>
          </a:xfrm>
          <a:prstGeom prst="rect">
            <a:avLst/>
          </a:prstGeom>
          <a:solidFill>
            <a:srgbClr val="DEF1FF"/>
          </a:solidFill>
          <a:ln>
            <a:noFill/>
          </a:ln>
        </p:spPr>
        <p:txBody>
          <a:bodyPr spcFirstLastPara="1" wrap="square" lIns="345550" tIns="345550" rIns="345550" bIns="345550" anchor="ctr" anchorCtr="0">
            <a:noAutofit/>
          </a:bodyPr>
          <a:lstStyle/>
          <a:p>
            <a:pPr marL="0" lvl="0" indent="0" algn="l" rtl="0">
              <a:spcBef>
                <a:spcPts val="0"/>
              </a:spcBef>
              <a:spcAft>
                <a:spcPts val="0"/>
              </a:spcAft>
              <a:buNone/>
            </a:pPr>
            <a:endParaRPr/>
          </a:p>
        </p:txBody>
      </p:sp>
      <p:sp>
        <p:nvSpPr>
          <p:cNvPr id="5" name="Google Shape;58;p13">
            <a:extLst>
              <a:ext uri="{FF2B5EF4-FFF2-40B4-BE49-F238E27FC236}">
                <a16:creationId xmlns:a16="http://schemas.microsoft.com/office/drawing/2014/main" id="{2A1CBB51-01F1-938B-BB40-99C7A94D921C}"/>
              </a:ext>
            </a:extLst>
          </p:cNvPr>
          <p:cNvSpPr txBox="1">
            <a:spLocks/>
          </p:cNvSpPr>
          <p:nvPr/>
        </p:nvSpPr>
        <p:spPr>
          <a:xfrm>
            <a:off x="3849269" y="-273903"/>
            <a:ext cx="22801903" cy="2455800"/>
          </a:xfrm>
          <a:prstGeom prst="rect">
            <a:avLst/>
          </a:prstGeom>
          <a:noFill/>
          <a:ln>
            <a:noFill/>
          </a:ln>
        </p:spPr>
        <p:txBody>
          <a:bodyPr spcFirstLastPara="1" wrap="square" lIns="464700" tIns="464700" rIns="464700" bIns="464700" anchor="t" anchorCtr="0">
            <a:noAutofit/>
          </a:bodyPr>
          <a:lstStyle>
            <a:defPPr marR="0" lvl="0" algn="l" rtl="0">
              <a:lnSpc>
                <a:spcPct val="100000"/>
              </a:lnSpc>
              <a:spcBef>
                <a:spcPts val="0"/>
              </a:spcBef>
              <a:spcAft>
                <a:spcPts val="0"/>
              </a:spcAft>
            </a:defPPr>
            <a:lvl1pPr marL="457200" marR="0" lvl="0" indent="-80645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1pPr>
            <a:lvl2pPr marL="914400" marR="0" lvl="1"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2pPr>
            <a:lvl3pPr marL="1371600" marR="0" lvl="2"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3pPr>
            <a:lvl4pPr marL="1828800" marR="0" lvl="3"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4pPr>
            <a:lvl5pPr marL="2286000" marR="0" lvl="4"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5pPr>
            <a:lvl6pPr marL="2743200" marR="0" lvl="5"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6pPr>
            <a:lvl7pPr marL="3200400" marR="0" lvl="6"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7pPr>
            <a:lvl8pPr marL="3657600" marR="0" lvl="7"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8pPr>
            <a:lvl9pPr marL="4114800" marR="0" lvl="8"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9pPr>
          </a:lstStyle>
          <a:p>
            <a:pPr marL="0" indent="0">
              <a:lnSpc>
                <a:spcPct val="120000"/>
              </a:lnSpc>
            </a:pPr>
            <a:r>
              <a:rPr lang="en-US" sz="6000" b="1">
                <a:solidFill>
                  <a:srgbClr val="1F4E79"/>
                </a:solidFill>
                <a:latin typeface="Oswald"/>
                <a:ea typeface="Oswald"/>
                <a:cs typeface="Oswald"/>
                <a:sym typeface="Oswald"/>
              </a:rPr>
              <a:t>DESIGN OF A CLOCK-DOMAIN MULTIPLEXER WITH DEADLOCK DETECTION AND RECOVERY CAPABILITY FOR FPGA SOC APPLICATIONS</a:t>
            </a:r>
            <a:endParaRPr lang="vi-VN" sz="6000" b="1">
              <a:solidFill>
                <a:srgbClr val="1F4E79"/>
              </a:solidFill>
              <a:latin typeface="Oswald"/>
              <a:ea typeface="Oswald"/>
              <a:cs typeface="Oswald"/>
              <a:sym typeface="Oswald"/>
            </a:endParaRPr>
          </a:p>
        </p:txBody>
      </p:sp>
      <p:pic>
        <p:nvPicPr>
          <p:cNvPr id="1026" name="Picture 2">
            <a:extLst>
              <a:ext uri="{FF2B5EF4-FFF2-40B4-BE49-F238E27FC236}">
                <a16:creationId xmlns:a16="http://schemas.microsoft.com/office/drawing/2014/main" id="{2ABF1028-2657-819E-1B07-3321528E3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790" y="8521299"/>
            <a:ext cx="8888913" cy="37574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2BA338A-544F-6DE4-171B-7198280D49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0" t="-1" r="15691" b="-393"/>
          <a:stretch>
            <a:fillRect/>
          </a:stretch>
        </p:blipFill>
        <p:spPr bwMode="auto">
          <a:xfrm>
            <a:off x="13600392" y="8642450"/>
            <a:ext cx="15822732" cy="158128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59;p13">
            <a:extLst>
              <a:ext uri="{FF2B5EF4-FFF2-40B4-BE49-F238E27FC236}">
                <a16:creationId xmlns:a16="http://schemas.microsoft.com/office/drawing/2014/main" id="{5162584F-4F30-DEBC-F8E5-F85AD1FBC4B6}"/>
              </a:ext>
            </a:extLst>
          </p:cNvPr>
          <p:cNvSpPr txBox="1">
            <a:spLocks noGrp="1"/>
          </p:cNvSpPr>
          <p:nvPr>
            <p:ph type="subTitle" idx="1"/>
          </p:nvPr>
        </p:nvSpPr>
        <p:spPr>
          <a:xfrm>
            <a:off x="112613" y="1786447"/>
            <a:ext cx="30275213" cy="2151000"/>
          </a:xfrm>
          <a:prstGeom prst="rect">
            <a:avLst/>
          </a:prstGeom>
        </p:spPr>
        <p:txBody>
          <a:bodyPr spcFirstLastPara="1" wrap="square" lIns="464700" tIns="464700" rIns="464700" bIns="464700" anchor="t" anchorCtr="0">
            <a:noAutofit/>
          </a:bodyPr>
          <a:lstStyle/>
          <a:p>
            <a:pPr marL="0" lvl="0" indent="0" algn="ctr" rtl="0">
              <a:lnSpc>
                <a:spcPct val="100000"/>
              </a:lnSpc>
              <a:spcBef>
                <a:spcPts val="0"/>
              </a:spcBef>
              <a:spcAft>
                <a:spcPts val="0"/>
              </a:spcAft>
              <a:buSzPts val="2450"/>
              <a:buNone/>
            </a:pPr>
            <a:r>
              <a:rPr lang="en" sz="4000" b="1" i="1">
                <a:solidFill>
                  <a:srgbClr val="1F4E79"/>
                </a:solidFill>
                <a:latin typeface="Times New Roman"/>
                <a:ea typeface="Times New Roman"/>
                <a:cs typeface="Times New Roman"/>
                <a:sym typeface="Times New Roman"/>
              </a:rPr>
              <a:t>Instructor: Dr. Le Van Thuan</a:t>
            </a:r>
          </a:p>
          <a:p>
            <a:pPr marL="0" lvl="0" indent="0" algn="ctr" rtl="0">
              <a:lnSpc>
                <a:spcPct val="100000"/>
              </a:lnSpc>
              <a:spcBef>
                <a:spcPts val="0"/>
              </a:spcBef>
              <a:spcAft>
                <a:spcPts val="0"/>
              </a:spcAft>
              <a:buSzPts val="2450"/>
              <a:buNone/>
            </a:pPr>
            <a:r>
              <a:rPr lang="en" sz="4000" b="1" i="1">
                <a:solidFill>
                  <a:srgbClr val="1F4E79"/>
                </a:solidFill>
                <a:latin typeface="Times New Roman"/>
                <a:ea typeface="Times New Roman"/>
                <a:cs typeface="Times New Roman"/>
                <a:sym typeface="Times New Roman"/>
              </a:rPr>
              <a:t>Students: Vu Thi Phuong*, Truong Hai Minh</a:t>
            </a:r>
          </a:p>
        </p:txBody>
      </p:sp>
      <p:sp>
        <p:nvSpPr>
          <p:cNvPr id="7" name="Google Shape;60;p13">
            <a:extLst>
              <a:ext uri="{FF2B5EF4-FFF2-40B4-BE49-F238E27FC236}">
                <a16:creationId xmlns:a16="http://schemas.microsoft.com/office/drawing/2014/main" id="{CF6424F8-A46E-0120-213C-B29A1BC4E13E}"/>
              </a:ext>
            </a:extLst>
          </p:cNvPr>
          <p:cNvSpPr>
            <a:spLocks/>
          </p:cNvSpPr>
          <p:nvPr/>
        </p:nvSpPr>
        <p:spPr>
          <a:xfrm>
            <a:off x="738782" y="3626981"/>
            <a:ext cx="28800000" cy="3299748"/>
          </a:xfrm>
          <a:prstGeom prst="rect">
            <a:avLst/>
          </a:prstGeom>
          <a:noFill/>
          <a:ln w="7620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0" name="Google Shape;61;p13">
            <a:extLst>
              <a:ext uri="{FF2B5EF4-FFF2-40B4-BE49-F238E27FC236}">
                <a16:creationId xmlns:a16="http://schemas.microsoft.com/office/drawing/2014/main" id="{70D7523A-4982-5DDE-C24A-D00D4D7341E1}"/>
              </a:ext>
            </a:extLst>
          </p:cNvPr>
          <p:cNvSpPr txBox="1">
            <a:spLocks/>
          </p:cNvSpPr>
          <p:nvPr/>
        </p:nvSpPr>
        <p:spPr>
          <a:xfrm>
            <a:off x="872723" y="3363847"/>
            <a:ext cx="28550401" cy="2275490"/>
          </a:xfrm>
          <a:prstGeom prst="rect">
            <a:avLst/>
          </a:prstGeom>
        </p:spPr>
        <p:txBody>
          <a:bodyPr spcFirstLastPara="1" vert="horz" wrap="square" lIns="464700" tIns="464700" rIns="464700" bIns="464700" rtlCol="0" anchor="t" anchorCtr="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spcBef>
                <a:spcPts val="0"/>
              </a:spcBef>
            </a:pPr>
            <a:r>
              <a:rPr lang="en-US" sz="3200" b="1">
                <a:solidFill>
                  <a:srgbClr val="1F4E79"/>
                </a:solidFill>
                <a:latin typeface="Oswald"/>
                <a:ea typeface="Oswald"/>
                <a:cs typeface="Oswald"/>
                <a:sym typeface="Oswald"/>
              </a:rPr>
              <a:t>ABSTRACT</a:t>
            </a:r>
          </a:p>
        </p:txBody>
      </p:sp>
      <p:sp>
        <p:nvSpPr>
          <p:cNvPr id="11" name="Google Shape;62;p13">
            <a:extLst>
              <a:ext uri="{FF2B5EF4-FFF2-40B4-BE49-F238E27FC236}">
                <a16:creationId xmlns:a16="http://schemas.microsoft.com/office/drawing/2014/main" id="{2522D946-F658-F015-93CC-DED12ABA5242}"/>
              </a:ext>
            </a:extLst>
          </p:cNvPr>
          <p:cNvSpPr txBox="1">
            <a:spLocks/>
          </p:cNvSpPr>
          <p:nvPr/>
        </p:nvSpPr>
        <p:spPr>
          <a:xfrm>
            <a:off x="745720" y="3803499"/>
            <a:ext cx="28799999" cy="3123230"/>
          </a:xfrm>
          <a:prstGeom prst="rect">
            <a:avLst/>
          </a:prstGeom>
          <a:noFill/>
          <a:ln>
            <a:noFill/>
          </a:ln>
        </p:spPr>
        <p:txBody>
          <a:bodyPr spcFirstLastPara="1" wrap="square" lIns="464700" tIns="464700" rIns="464700" bIns="464700" anchor="t" anchorCtr="0">
            <a:noAutofit/>
          </a:bodyPr>
          <a:lstStyle>
            <a:defPPr marR="0" lvl="0" algn="l" rtl="0">
              <a:lnSpc>
                <a:spcPct val="100000"/>
              </a:lnSpc>
              <a:spcBef>
                <a:spcPts val="0"/>
              </a:spcBef>
              <a:spcAft>
                <a:spcPts val="0"/>
              </a:spcAft>
            </a:defPPr>
            <a:lvl1pPr marL="457200" marR="0" lvl="0" indent="-80645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1pPr>
            <a:lvl2pPr marL="914400" marR="0" lvl="1"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2pPr>
            <a:lvl3pPr marL="1371600" marR="0" lvl="2"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3pPr>
            <a:lvl4pPr marL="1828800" marR="0" lvl="3"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4pPr>
            <a:lvl5pPr marL="2286000" marR="0" lvl="4"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5pPr>
            <a:lvl6pPr marL="2743200" marR="0" lvl="5"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6pPr>
            <a:lvl7pPr marL="3200400" marR="0" lvl="6"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7pPr>
            <a:lvl8pPr marL="3657600" marR="0" lvl="7"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8pPr>
            <a:lvl9pPr marL="4114800" marR="0" lvl="8"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9pPr>
          </a:lstStyle>
          <a:p>
            <a:pPr marL="0" indent="0" algn="just">
              <a:buSzPts val="2450"/>
            </a:pPr>
            <a:r>
              <a:rPr lang="en-US" sz="3200">
                <a:solidFill>
                  <a:srgbClr val="000000"/>
                </a:solidFill>
                <a:latin typeface="Times New Roman"/>
                <a:ea typeface="Times New Roman"/>
                <a:cs typeface="Times New Roman"/>
                <a:sym typeface="Times New Roman"/>
              </a:rPr>
              <a:t>Reliable switching between asynchronous clock sources in SoC and FPGA systems remains challenging due to glitches, metastability, and unsafe failover when a clock source fails. This paper presents a glitch-free clock multiplexer featuring integrated activity sensing and permission-driven selection logic. The design employs cross-domain edge detection and counters to detect a failed clock, enabling fast symmetric failover to the live clock while forcing the dead path to disable. In the rare case of simultaneous failure of both clocks before detection completes, the output safely holds its last valid state. FPGA implementation on Intel Cyclone V demonstrates only 12 ALMs resource usage and a maximum operating frequency of 496.52 MHz.</a:t>
            </a:r>
            <a:endParaRPr lang="vi-VN" sz="3200">
              <a:solidFill>
                <a:srgbClr val="000000"/>
              </a:solidFill>
              <a:latin typeface="Times New Roman"/>
              <a:ea typeface="Times New Roman"/>
              <a:cs typeface="Times New Roman"/>
              <a:sym typeface="Times New Roman"/>
            </a:endParaRPr>
          </a:p>
        </p:txBody>
      </p:sp>
      <p:sp>
        <p:nvSpPr>
          <p:cNvPr id="2" name="Google Shape;63;p13">
            <a:extLst>
              <a:ext uri="{FF2B5EF4-FFF2-40B4-BE49-F238E27FC236}">
                <a16:creationId xmlns:a16="http://schemas.microsoft.com/office/drawing/2014/main" id="{95977228-51F9-326E-BC22-ABC56E51CE20}"/>
              </a:ext>
            </a:extLst>
          </p:cNvPr>
          <p:cNvSpPr>
            <a:spLocks/>
          </p:cNvSpPr>
          <p:nvPr/>
        </p:nvSpPr>
        <p:spPr>
          <a:xfrm>
            <a:off x="749131" y="7073086"/>
            <a:ext cx="28800000" cy="6325999"/>
          </a:xfrm>
          <a:prstGeom prst="rect">
            <a:avLst/>
          </a:prstGeom>
          <a:noFill/>
          <a:ln w="7620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3" name="Google Shape;64;p13">
            <a:extLst>
              <a:ext uri="{FF2B5EF4-FFF2-40B4-BE49-F238E27FC236}">
                <a16:creationId xmlns:a16="http://schemas.microsoft.com/office/drawing/2014/main" id="{2BB8620E-3674-B5FE-0E3D-1CD571669C8F}"/>
              </a:ext>
            </a:extLst>
          </p:cNvPr>
          <p:cNvSpPr txBox="1">
            <a:spLocks/>
          </p:cNvSpPr>
          <p:nvPr/>
        </p:nvSpPr>
        <p:spPr>
          <a:xfrm>
            <a:off x="907851" y="6706849"/>
            <a:ext cx="28550400" cy="2455800"/>
          </a:xfrm>
          <a:prstGeom prst="rect">
            <a:avLst/>
          </a:prstGeom>
          <a:noFill/>
          <a:ln>
            <a:noFill/>
          </a:ln>
        </p:spPr>
        <p:txBody>
          <a:bodyPr spcFirstLastPara="1" wrap="square" lIns="464700" tIns="464700" rIns="464700" bIns="464700" anchor="t" anchorCtr="0">
            <a:normAutofit/>
          </a:bodyPr>
          <a:lstStyle>
            <a:defPPr marR="0" lvl="0" algn="l" rtl="0">
              <a:lnSpc>
                <a:spcPct val="100000"/>
              </a:lnSpc>
              <a:spcBef>
                <a:spcPts val="0"/>
              </a:spcBef>
              <a:spcAft>
                <a:spcPts val="0"/>
              </a:spcAft>
            </a:defPPr>
            <a:lvl1pPr marL="457200" marR="0" lvl="0" indent="-80645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1pPr>
            <a:lvl2pPr marL="914400" marR="0" lvl="1"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2pPr>
            <a:lvl3pPr marL="1371600" marR="0" lvl="2"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3pPr>
            <a:lvl4pPr marL="1828800" marR="0" lvl="3"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4pPr>
            <a:lvl5pPr marL="2286000" marR="0" lvl="4"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5pPr>
            <a:lvl6pPr marL="2743200" marR="0" lvl="5"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6pPr>
            <a:lvl7pPr marL="3200400" marR="0" lvl="6"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7pPr>
            <a:lvl8pPr marL="3657600" marR="0" lvl="7"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8pPr>
            <a:lvl9pPr marL="4114800" marR="0" lvl="8"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9pPr>
          </a:lstStyle>
          <a:p>
            <a:pPr marL="0" indent="0"/>
            <a:r>
              <a:rPr lang="en-US" sz="3200" b="1">
                <a:solidFill>
                  <a:srgbClr val="1F4E79"/>
                </a:solidFill>
                <a:latin typeface="Oswald"/>
                <a:ea typeface="Oswald"/>
                <a:cs typeface="Oswald"/>
                <a:sym typeface="Oswald"/>
              </a:rPr>
              <a:t>PROBLEMS AND MOTIVATIONS</a:t>
            </a:r>
          </a:p>
        </p:txBody>
      </p:sp>
      <p:sp>
        <p:nvSpPr>
          <p:cNvPr id="8" name="TextBox 7">
            <a:extLst>
              <a:ext uri="{FF2B5EF4-FFF2-40B4-BE49-F238E27FC236}">
                <a16:creationId xmlns:a16="http://schemas.microsoft.com/office/drawing/2014/main" id="{5EF193E4-FC3E-A78E-443E-CF7DF6DB6AD9}"/>
              </a:ext>
            </a:extLst>
          </p:cNvPr>
          <p:cNvSpPr txBox="1">
            <a:spLocks/>
          </p:cNvSpPr>
          <p:nvPr/>
        </p:nvSpPr>
        <p:spPr>
          <a:xfrm>
            <a:off x="3635256" y="7858569"/>
            <a:ext cx="5033237"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A. Traditional Clock Multiplexer</a:t>
            </a:r>
            <a:endParaRPr lang="vi-VN" sz="2800" b="1" i="1">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E938B40-EDE1-1B3D-63B0-9558068C45A1}"/>
              </a:ext>
            </a:extLst>
          </p:cNvPr>
          <p:cNvSpPr txBox="1">
            <a:spLocks/>
          </p:cNvSpPr>
          <p:nvPr/>
        </p:nvSpPr>
        <p:spPr>
          <a:xfrm>
            <a:off x="18955448" y="7869592"/>
            <a:ext cx="8267071"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B. Glitch in Traditional Clock Multiplexer (Waveform)</a:t>
            </a:r>
            <a:endParaRPr lang="vi-VN" sz="2800" b="1" i="1">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FD1B3FF-0622-9F27-D505-45556D319275}"/>
              </a:ext>
            </a:extLst>
          </p:cNvPr>
          <p:cNvSpPr txBox="1">
            <a:spLocks/>
          </p:cNvSpPr>
          <p:nvPr/>
        </p:nvSpPr>
        <p:spPr>
          <a:xfrm>
            <a:off x="3394484" y="12334540"/>
            <a:ext cx="5514779" cy="523220"/>
          </a:xfrm>
          <a:prstGeom prst="rect">
            <a:avLst/>
          </a:prstGeom>
          <a:noFill/>
        </p:spPr>
        <p:txBody>
          <a:bodyPr wrap="none" rtlCol="0">
            <a:spAutoFit/>
          </a:bodyPr>
          <a:lstStyle/>
          <a:p>
            <a:pPr algn="ctr"/>
            <a:r>
              <a:rPr lang="en-US" sz="2800">
                <a:latin typeface="Times New Roman" panose="02020603050405020304" pitchFamily="18" charset="0"/>
                <a:cs typeface="Times New Roman" panose="02020603050405020304" pitchFamily="18" charset="0"/>
              </a:rPr>
              <a:t>Fig.1. Traditional Clock Multiplexer</a:t>
            </a:r>
            <a:endParaRPr lang="vi-VN" sz="28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BD64AF7-0D03-BB55-5CED-A4F6784732CC}"/>
                  </a:ext>
                </a:extLst>
              </p:cNvPr>
              <p:cNvSpPr txBox="1">
                <a:spLocks/>
              </p:cNvSpPr>
              <p:nvPr/>
            </p:nvSpPr>
            <p:spPr>
              <a:xfrm>
                <a:off x="13600392" y="10246615"/>
                <a:ext cx="15743349" cy="954107"/>
              </a:xfrm>
              <a:prstGeom prst="rect">
                <a:avLst/>
              </a:prstGeom>
              <a:noFill/>
            </p:spPr>
            <p:txBody>
              <a:bodyPr wrap="square" rtlCol="0">
                <a:spAutoFit/>
              </a:bodyPr>
              <a:lstStyle/>
              <a:p>
                <a:pPr algn="ctr"/>
                <a:r>
                  <a:rPr lang="en-US" sz="2800">
                    <a:latin typeface="Times New Roman" panose="02020603050405020304" pitchFamily="18" charset="0"/>
                    <a:cs typeface="Times New Roman" panose="02020603050405020304" pitchFamily="18" charset="0"/>
                  </a:rPr>
                  <a:t>Fig. 2. When the select signal (</a:t>
                </a:r>
                <a14:m>
                  <m:oMath xmlns:m="http://schemas.openxmlformats.org/officeDocument/2006/math">
                    <m:r>
                      <a:rPr lang="en-US" sz="2800" b="0" i="1" smtClean="0">
                        <a:latin typeface="Cambria Math" panose="02040503050406030204" pitchFamily="18" charset="0"/>
                        <a:cs typeface="Times New Roman" panose="02020603050405020304" pitchFamily="18" charset="0"/>
                      </a:rPr>
                      <m:t>𝑠𝑒𝑙</m:t>
                    </m:r>
                  </m:oMath>
                </a14:m>
                <a:r>
                  <a:rPr lang="en-US" sz="2800">
                    <a:latin typeface="Times New Roman" panose="02020603050405020304" pitchFamily="18" charset="0"/>
                    <a:cs typeface="Times New Roman" panose="02020603050405020304" pitchFamily="18" charset="0"/>
                  </a:rPr>
                  <a:t>) changes to switch from one clock to the other while both clocks are active, an unwanted short pulse called a glitch appears on</a:t>
                </a:r>
                <a14:m>
                  <m:oMath xmlns:m="http://schemas.openxmlformats.org/officeDocument/2006/math">
                    <m:r>
                      <a:rPr lang="en-US" sz="2800" b="0" i="0"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𝑐𝑙𝑘</m:t>
                    </m:r>
                    <m:r>
                      <a:rPr lang="en-US" sz="2800" b="0" i="1" smtClean="0">
                        <a:latin typeface="Cambria Math" panose="02040503050406030204" pitchFamily="18" charset="0"/>
                        <a:cs typeface="Times New Roman" panose="02020603050405020304" pitchFamily="18" charset="0"/>
                      </a:rPr>
                      <m:t>_</m:t>
                    </m:r>
                    <m:r>
                      <a:rPr lang="en-US" sz="2800" b="0" i="1" smtClean="0">
                        <a:latin typeface="Cambria Math" panose="02040503050406030204" pitchFamily="18" charset="0"/>
                        <a:cs typeface="Times New Roman" panose="02020603050405020304" pitchFamily="18" charset="0"/>
                      </a:rPr>
                      <m:t>𝑜𝑢𝑡</m:t>
                    </m:r>
                  </m:oMath>
                </a14:m>
                <a:r>
                  <a:rPr lang="en-US" sz="2800">
                    <a:latin typeface="Times New Roman" panose="02020603050405020304" pitchFamily="18" charset="0"/>
                    <a:cs typeface="Times New Roman" panose="02020603050405020304" pitchFamily="18" charset="0"/>
                  </a:rPr>
                  <a:t>.</a:t>
                </a:r>
                <a:endParaRPr lang="vi-VN" sz="280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BD64AF7-0D03-BB55-5CED-A4F6784732CC}"/>
                  </a:ext>
                </a:extLst>
              </p:cNvPr>
              <p:cNvSpPr txBox="1">
                <a:spLocks noRot="1" noChangeAspect="1" noMove="1" noResize="1" noEditPoints="1" noAdjustHandles="1" noChangeArrowheads="1" noChangeShapeType="1" noTextEdit="1"/>
              </p:cNvSpPr>
              <p:nvPr/>
            </p:nvSpPr>
            <p:spPr>
              <a:xfrm>
                <a:off x="13600392" y="10246615"/>
                <a:ext cx="15743349" cy="954107"/>
              </a:xfrm>
              <a:prstGeom prst="rect">
                <a:avLst/>
              </a:prstGeom>
              <a:blipFill>
                <a:blip r:embed="rId4"/>
                <a:stretch>
                  <a:fillRect t="-7051" b="-17308"/>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3E07A9FD-156F-E5F3-D599-4184A16CEBF2}"/>
              </a:ext>
            </a:extLst>
          </p:cNvPr>
          <p:cNvGrpSpPr/>
          <p:nvPr/>
        </p:nvGrpSpPr>
        <p:grpSpPr>
          <a:xfrm>
            <a:off x="13600393" y="11223607"/>
            <a:ext cx="15822732" cy="1640312"/>
            <a:chOff x="13600393" y="13905013"/>
            <a:chExt cx="15822732" cy="1640312"/>
          </a:xfrm>
        </p:grpSpPr>
        <p:pic>
          <p:nvPicPr>
            <p:cNvPr id="15" name="Picture 14">
              <a:extLst>
                <a:ext uri="{FF2B5EF4-FFF2-40B4-BE49-F238E27FC236}">
                  <a16:creationId xmlns:a16="http://schemas.microsoft.com/office/drawing/2014/main" id="{D6A1FB25-4E97-D084-63A4-BEEBD489D0A6}"/>
                </a:ext>
              </a:extLst>
            </p:cNvPr>
            <p:cNvPicPr>
              <a:picLocks noChangeAspect="1"/>
            </p:cNvPicPr>
            <p:nvPr/>
          </p:nvPicPr>
          <p:blipFill>
            <a:blip r:embed="rId5"/>
            <a:srcRect t="2989" r="1197" b="5416"/>
            <a:stretch>
              <a:fillRect/>
            </a:stretch>
          </p:blipFill>
          <p:spPr>
            <a:xfrm>
              <a:off x="13600393" y="13905013"/>
              <a:ext cx="15822732" cy="1606488"/>
            </a:xfrm>
            <a:prstGeom prst="rect">
              <a:avLst/>
            </a:prstGeom>
          </p:spPr>
        </p:pic>
        <p:sp>
          <p:nvSpPr>
            <p:cNvPr id="16" name="TextBox 15">
              <a:extLst>
                <a:ext uri="{FF2B5EF4-FFF2-40B4-BE49-F238E27FC236}">
                  <a16:creationId xmlns:a16="http://schemas.microsoft.com/office/drawing/2014/main" id="{D3776CA7-2B76-8B2E-8AEA-E4597CF95450}"/>
                </a:ext>
              </a:extLst>
            </p:cNvPr>
            <p:cNvSpPr txBox="1"/>
            <p:nvPr/>
          </p:nvSpPr>
          <p:spPr>
            <a:xfrm>
              <a:off x="23088983" y="15145215"/>
              <a:ext cx="1167307" cy="400110"/>
            </a:xfrm>
            <a:prstGeom prst="rect">
              <a:avLst/>
            </a:prstGeom>
            <a:noFill/>
          </p:spPr>
          <p:txBody>
            <a:bodyPr wrap="none" rtlCol="0">
              <a:spAutoFit/>
            </a:bodyPr>
            <a:lstStyle/>
            <a:p>
              <a:r>
                <a:rPr lang="en-US" sz="2000">
                  <a:solidFill>
                    <a:srgbClr val="FFFF66"/>
                  </a:solidFill>
                  <a:latin typeface="Times New Roman" panose="02020603050405020304" pitchFamily="18" charset="0"/>
                  <a:cs typeface="Times New Roman" panose="02020603050405020304" pitchFamily="18" charset="0"/>
                </a:rPr>
                <a:t>Deadlock</a:t>
              </a:r>
            </a:p>
          </p:txBody>
        </p:sp>
        <p:sp>
          <p:nvSpPr>
            <p:cNvPr id="17" name="TextBox 16">
              <a:extLst>
                <a:ext uri="{FF2B5EF4-FFF2-40B4-BE49-F238E27FC236}">
                  <a16:creationId xmlns:a16="http://schemas.microsoft.com/office/drawing/2014/main" id="{19EBA60E-7B0D-55F3-FE51-BDDEC89249AC}"/>
                </a:ext>
              </a:extLst>
            </p:cNvPr>
            <p:cNvSpPr txBox="1"/>
            <p:nvPr/>
          </p:nvSpPr>
          <p:spPr>
            <a:xfrm>
              <a:off x="23088983" y="14361526"/>
              <a:ext cx="1167307" cy="400110"/>
            </a:xfrm>
            <a:prstGeom prst="rect">
              <a:avLst/>
            </a:prstGeom>
            <a:noFill/>
          </p:spPr>
          <p:txBody>
            <a:bodyPr wrap="none" rtlCol="0">
              <a:spAutoFit/>
            </a:bodyPr>
            <a:lstStyle/>
            <a:p>
              <a:r>
                <a:rPr lang="en-US" sz="2000">
                  <a:solidFill>
                    <a:srgbClr val="FFFF66"/>
                  </a:solidFill>
                  <a:latin typeface="Times New Roman" panose="02020603050405020304" pitchFamily="18" charset="0"/>
                  <a:cs typeface="Times New Roman" panose="02020603050405020304" pitchFamily="18" charset="0"/>
                </a:rPr>
                <a:t>Deadlock</a:t>
              </a:r>
            </a:p>
          </p:txBody>
        </p:sp>
      </p:grpSp>
      <p:sp>
        <p:nvSpPr>
          <p:cNvPr id="19" name="TextBox 18">
            <a:extLst>
              <a:ext uri="{FF2B5EF4-FFF2-40B4-BE49-F238E27FC236}">
                <a16:creationId xmlns:a16="http://schemas.microsoft.com/office/drawing/2014/main" id="{F7321A5A-80AD-968E-1A80-F53A22B86EB4}"/>
              </a:ext>
            </a:extLst>
          </p:cNvPr>
          <p:cNvSpPr txBox="1">
            <a:spLocks/>
          </p:cNvSpPr>
          <p:nvPr/>
        </p:nvSpPr>
        <p:spPr>
          <a:xfrm>
            <a:off x="13640083" y="12875865"/>
            <a:ext cx="15743349" cy="523220"/>
          </a:xfrm>
          <a:prstGeom prst="rect">
            <a:avLst/>
          </a:prstGeom>
          <a:noFill/>
        </p:spPr>
        <p:txBody>
          <a:bodyPr wrap="square" rtlCol="0">
            <a:spAutoFit/>
          </a:bodyPr>
          <a:lstStyle/>
          <a:p>
            <a:pPr algn="ctr"/>
            <a:r>
              <a:rPr lang="en-US" sz="2800">
                <a:latin typeface="Times New Roman" panose="02020603050405020304" pitchFamily="18" charset="0"/>
                <a:cs typeface="Times New Roman" panose="02020603050405020304" pitchFamily="18" charset="0"/>
              </a:rPr>
              <a:t>Fig. 3. Deadlock occurs when the selected clock stops toggling or become stuck at a constant logic level.</a:t>
            </a:r>
            <a:endParaRPr lang="vi-VN" sz="2800">
              <a:latin typeface="Times New Roman" panose="02020603050405020304" pitchFamily="18" charset="0"/>
              <a:cs typeface="Times New Roman" panose="02020603050405020304" pitchFamily="18" charset="0"/>
            </a:endParaRPr>
          </a:p>
        </p:txBody>
      </p:sp>
      <p:sp>
        <p:nvSpPr>
          <p:cNvPr id="21" name="Google Shape;66;p13">
            <a:extLst>
              <a:ext uri="{FF2B5EF4-FFF2-40B4-BE49-F238E27FC236}">
                <a16:creationId xmlns:a16="http://schemas.microsoft.com/office/drawing/2014/main" id="{A84563A5-4444-B17C-5F05-80A5DD2F34F0}"/>
              </a:ext>
            </a:extLst>
          </p:cNvPr>
          <p:cNvSpPr>
            <a:spLocks/>
          </p:cNvSpPr>
          <p:nvPr/>
        </p:nvSpPr>
        <p:spPr>
          <a:xfrm>
            <a:off x="745721" y="13553644"/>
            <a:ext cx="28800000" cy="15394799"/>
          </a:xfrm>
          <a:prstGeom prst="rect">
            <a:avLst/>
          </a:prstGeom>
          <a:noFill/>
          <a:ln w="7620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pic>
        <p:nvPicPr>
          <p:cNvPr id="22" name="Picture 2">
            <a:extLst>
              <a:ext uri="{FF2B5EF4-FFF2-40B4-BE49-F238E27FC236}">
                <a16:creationId xmlns:a16="http://schemas.microsoft.com/office/drawing/2014/main" id="{2D1B44C6-403D-405F-599D-7420175F4F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6508" y="14886325"/>
            <a:ext cx="5923734" cy="9940026"/>
          </a:xfrm>
          <a:prstGeom prst="rect">
            <a:avLst/>
          </a:prstGeom>
          <a:noFill/>
          <a:extLst>
            <a:ext uri="{909E8E84-426E-40DD-AFC4-6F175D3DCCD1}">
              <a14:hiddenFill xmlns:a14="http://schemas.microsoft.com/office/drawing/2010/main">
                <a:solidFill>
                  <a:srgbClr val="FFFFFF"/>
                </a:solidFill>
              </a14:hiddenFill>
            </a:ext>
          </a:extLst>
        </p:spPr>
      </p:pic>
      <p:sp>
        <p:nvSpPr>
          <p:cNvPr id="23" name="Google Shape;67;p13">
            <a:extLst>
              <a:ext uri="{FF2B5EF4-FFF2-40B4-BE49-F238E27FC236}">
                <a16:creationId xmlns:a16="http://schemas.microsoft.com/office/drawing/2014/main" id="{00BABFF7-66FF-70C4-0720-ED5E8AE46FC0}"/>
              </a:ext>
            </a:extLst>
          </p:cNvPr>
          <p:cNvSpPr txBox="1">
            <a:spLocks/>
          </p:cNvSpPr>
          <p:nvPr/>
        </p:nvSpPr>
        <p:spPr>
          <a:xfrm>
            <a:off x="6615945" y="13359595"/>
            <a:ext cx="17134212" cy="698720"/>
          </a:xfrm>
          <a:prstGeom prst="rect">
            <a:avLst/>
          </a:prstGeom>
        </p:spPr>
        <p:txBody>
          <a:bodyPr spcFirstLastPara="1" vert="horz" wrap="square" lIns="464700" tIns="464700" rIns="464700" bIns="464700" rtlCol="0" anchor="t" anchorCtr="0">
            <a:no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spcBef>
                <a:spcPts val="0"/>
              </a:spcBef>
            </a:pPr>
            <a:r>
              <a:rPr lang="en-US" sz="3200" b="1">
                <a:solidFill>
                  <a:srgbClr val="1F4E79"/>
                </a:solidFill>
                <a:latin typeface="Oswald"/>
                <a:ea typeface="Oswald"/>
                <a:cs typeface="Oswald"/>
                <a:sym typeface="Oswald"/>
              </a:rPr>
              <a:t>PROPOSED DESIGN</a:t>
            </a:r>
            <a:endParaRPr lang="vi-VN" sz="3200" b="1">
              <a:solidFill>
                <a:srgbClr val="1F4E79"/>
              </a:solidFill>
              <a:latin typeface="Oswald"/>
              <a:ea typeface="Oswald"/>
              <a:cs typeface="Oswald"/>
              <a:sym typeface="Oswald"/>
            </a:endParaRPr>
          </a:p>
        </p:txBody>
      </p:sp>
      <p:pic>
        <p:nvPicPr>
          <p:cNvPr id="24" name="Picture 4">
            <a:extLst>
              <a:ext uri="{FF2B5EF4-FFF2-40B4-BE49-F238E27FC236}">
                <a16:creationId xmlns:a16="http://schemas.microsoft.com/office/drawing/2014/main" id="{FA3B5552-FED0-8228-E447-933D459B12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1028" y="15122224"/>
            <a:ext cx="17674691" cy="12469494"/>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2469A95B-FDFB-262D-F500-5869590D54AE}"/>
              </a:ext>
            </a:extLst>
          </p:cNvPr>
          <p:cNvSpPr txBox="1"/>
          <p:nvPr/>
        </p:nvSpPr>
        <p:spPr>
          <a:xfrm>
            <a:off x="1435401" y="25241006"/>
            <a:ext cx="10361088" cy="3539430"/>
          </a:xfrm>
          <a:prstGeom prst="rect">
            <a:avLst/>
          </a:prstGeom>
          <a:noFill/>
        </p:spPr>
        <p:txBody>
          <a:bodyPr wrap="square">
            <a:spAutoFit/>
          </a:bodyPr>
          <a:lstStyle/>
          <a:p>
            <a:r>
              <a:rPr lang="en-US" sz="2800" b="0" i="0">
                <a:solidFill>
                  <a:srgbClr val="000000"/>
                </a:solidFill>
                <a:effectLst/>
                <a:latin typeface="Times New Roman" panose="02020603050405020304" pitchFamily="18" charset="0"/>
                <a:cs typeface="Times New Roman" panose="02020603050405020304" pitchFamily="18" charset="0"/>
              </a:rPr>
              <a:t>Fig. 4. consists of three functional layers. Layer 1 (Activity Sensor) continuously monitors the health of both input clocks through cross-domain sampling and generates real-time fail signals when a clock stops active [1]. These signals are fed to Layer 2 (Decision Making), which combines them with the external select signal to dynamically determine the desired clock. Finally, Layer 3 (Safe Handover) converts the desired signals into synchronized enable signals, ensuring glitch-free switching and mutual exclusion between the two clock paths</a:t>
            </a:r>
            <a:r>
              <a:rPr lang="en-US" sz="2800">
                <a:solidFill>
                  <a:srgbClr val="000000"/>
                </a:solidFill>
                <a:latin typeface="Times New Roman" panose="02020603050405020304" pitchFamily="18" charset="0"/>
                <a:cs typeface="Times New Roman" panose="02020603050405020304" pitchFamily="18" charset="0"/>
              </a:rPr>
              <a:t> [3]</a:t>
            </a:r>
            <a:r>
              <a:rPr lang="en-US" sz="2800" b="0" i="0">
                <a:solidFill>
                  <a:srgbClr val="000000"/>
                </a:solidFill>
                <a:effectLst/>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F32A0746-86F2-AD8B-922F-AF3393FE921D}"/>
              </a:ext>
            </a:extLst>
          </p:cNvPr>
          <p:cNvSpPr txBox="1">
            <a:spLocks/>
          </p:cNvSpPr>
          <p:nvPr/>
        </p:nvSpPr>
        <p:spPr>
          <a:xfrm>
            <a:off x="2718083" y="14409475"/>
            <a:ext cx="8116324"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A. Block Diagram of The Proposed Clock Multiplexer</a:t>
            </a:r>
            <a:endParaRPr lang="vi-VN" sz="2800" b="1" i="1">
              <a:latin typeface="Times New Roman" panose="02020603050405020304" pitchFamily="18" charset="0"/>
              <a:cs typeface="Times New Roman" panose="02020603050405020304" pitchFamily="18" charset="0"/>
            </a:endParaRPr>
          </a:p>
        </p:txBody>
      </p:sp>
      <p:sp>
        <p:nvSpPr>
          <p:cNvPr id="1024" name="TextBox 1023">
            <a:extLst>
              <a:ext uri="{FF2B5EF4-FFF2-40B4-BE49-F238E27FC236}">
                <a16:creationId xmlns:a16="http://schemas.microsoft.com/office/drawing/2014/main" id="{3F3F3380-5809-25C0-2F33-1483719B47BC}"/>
              </a:ext>
            </a:extLst>
          </p:cNvPr>
          <p:cNvSpPr txBox="1">
            <a:spLocks/>
          </p:cNvSpPr>
          <p:nvPr/>
        </p:nvSpPr>
        <p:spPr>
          <a:xfrm>
            <a:off x="17797438" y="14409475"/>
            <a:ext cx="7428637"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B. Schematic of The Proposed Clock Multiplexer</a:t>
            </a:r>
            <a:endParaRPr lang="vi-VN" sz="2800" b="1" i="1">
              <a:latin typeface="Times New Roman" panose="02020603050405020304" pitchFamily="18" charset="0"/>
              <a:cs typeface="Times New Roman" panose="02020603050405020304" pitchFamily="18" charset="0"/>
            </a:endParaRPr>
          </a:p>
        </p:txBody>
      </p:sp>
      <p:cxnSp>
        <p:nvCxnSpPr>
          <p:cNvPr id="1027" name="Straight Connector 1026">
            <a:extLst>
              <a:ext uri="{FF2B5EF4-FFF2-40B4-BE49-F238E27FC236}">
                <a16:creationId xmlns:a16="http://schemas.microsoft.com/office/drawing/2014/main" id="{3F0F9F49-33D3-B4A3-94DD-1353CB513F03}"/>
              </a:ext>
            </a:extLst>
          </p:cNvPr>
          <p:cNvCxnSpPr>
            <a:cxnSpLocks/>
          </p:cNvCxnSpPr>
          <p:nvPr/>
        </p:nvCxnSpPr>
        <p:spPr>
          <a:xfrm flipV="1">
            <a:off x="11836039" y="14168522"/>
            <a:ext cx="0" cy="14779921"/>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sp>
        <p:nvSpPr>
          <p:cNvPr id="1037" name="Google Shape;78;p13">
            <a:extLst>
              <a:ext uri="{FF2B5EF4-FFF2-40B4-BE49-F238E27FC236}">
                <a16:creationId xmlns:a16="http://schemas.microsoft.com/office/drawing/2014/main" id="{E9A4042A-C925-74BE-2598-4D5DC208FFDA}"/>
              </a:ext>
            </a:extLst>
          </p:cNvPr>
          <p:cNvSpPr>
            <a:spLocks/>
          </p:cNvSpPr>
          <p:nvPr/>
        </p:nvSpPr>
        <p:spPr>
          <a:xfrm>
            <a:off x="35718" y="41943769"/>
            <a:ext cx="30275213" cy="1049227"/>
          </a:xfrm>
          <a:prstGeom prst="rect">
            <a:avLst/>
          </a:prstGeom>
          <a:solidFill>
            <a:srgbClr val="DEF1FF"/>
          </a:solidFill>
          <a:ln>
            <a:noFill/>
          </a:ln>
        </p:spPr>
        <p:txBody>
          <a:bodyPr spcFirstLastPara="1" wrap="square" lIns="345550" tIns="345550" rIns="345550" bIns="345550" anchor="ctr" anchorCtr="0">
            <a:noAutofit/>
          </a:bodyPr>
          <a:lstStyle/>
          <a:p>
            <a:pPr marL="0" lvl="0" indent="0" algn="l" rtl="0">
              <a:spcBef>
                <a:spcPts val="0"/>
              </a:spcBef>
              <a:spcAft>
                <a:spcPts val="0"/>
              </a:spcAft>
              <a:buNone/>
            </a:pPr>
            <a:endParaRPr/>
          </a:p>
        </p:txBody>
      </p:sp>
      <p:sp>
        <p:nvSpPr>
          <p:cNvPr id="1038" name="Google Shape;79;p13">
            <a:extLst>
              <a:ext uri="{FF2B5EF4-FFF2-40B4-BE49-F238E27FC236}">
                <a16:creationId xmlns:a16="http://schemas.microsoft.com/office/drawing/2014/main" id="{3D60DAC0-9B82-3B0C-FD75-56BC855827B3}"/>
              </a:ext>
            </a:extLst>
          </p:cNvPr>
          <p:cNvSpPr txBox="1">
            <a:spLocks/>
          </p:cNvSpPr>
          <p:nvPr/>
        </p:nvSpPr>
        <p:spPr>
          <a:xfrm>
            <a:off x="3086046" y="41671778"/>
            <a:ext cx="24148800" cy="2151000"/>
          </a:xfrm>
          <a:prstGeom prst="rect">
            <a:avLst/>
          </a:prstGeom>
        </p:spPr>
        <p:txBody>
          <a:bodyPr spcFirstLastPara="1" vert="horz" wrap="square" lIns="464700" tIns="464700" rIns="464700" bIns="464700" rtlCol="0" anchor="t" anchorCtr="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lnSpc>
                <a:spcPct val="115000"/>
              </a:lnSpc>
              <a:spcBef>
                <a:spcPts val="0"/>
              </a:spcBef>
              <a:buSzPts val="3500"/>
            </a:pPr>
            <a:r>
              <a:rPr lang="en-US" sz="3600" b="1" i="1">
                <a:solidFill>
                  <a:srgbClr val="1F4E79"/>
                </a:solidFill>
                <a:latin typeface="Times New Roman"/>
                <a:ea typeface="Times New Roman"/>
                <a:cs typeface="Times New Roman"/>
                <a:sym typeface="Times New Roman"/>
              </a:rPr>
              <a:t>Ha Noi, 16/04/2026</a:t>
            </a:r>
            <a:endParaRPr lang="en-US" sz="3600" b="1" i="1" dirty="0">
              <a:solidFill>
                <a:srgbClr val="1F4E79"/>
              </a:solidFill>
              <a:latin typeface="Times New Roman"/>
              <a:ea typeface="Times New Roman"/>
              <a:cs typeface="Times New Roman"/>
              <a:sym typeface="Times New Roman"/>
            </a:endParaRPr>
          </a:p>
        </p:txBody>
      </p:sp>
      <p:pic>
        <p:nvPicPr>
          <p:cNvPr id="1041" name="Picture 1040" descr="A blue and orange logo&#10;&#10;Description automatically generated">
            <a:extLst>
              <a:ext uri="{FF2B5EF4-FFF2-40B4-BE49-F238E27FC236}">
                <a16:creationId xmlns:a16="http://schemas.microsoft.com/office/drawing/2014/main" id="{902F3598-7FA8-D417-DC4B-5DACD9FB9BEE}"/>
              </a:ext>
            </a:extLst>
          </p:cNvPr>
          <p:cNvPicPr>
            <a:picLocks noChangeAspect="1"/>
          </p:cNvPicPr>
          <p:nvPr/>
        </p:nvPicPr>
        <p:blipFill>
          <a:blip r:embed="rId8"/>
          <a:stretch>
            <a:fillRect/>
          </a:stretch>
        </p:blipFill>
        <p:spPr>
          <a:xfrm>
            <a:off x="26101456" y="454616"/>
            <a:ext cx="4127760" cy="1587321"/>
          </a:xfrm>
          <a:prstGeom prst="rect">
            <a:avLst/>
          </a:prstGeom>
        </p:spPr>
      </p:pic>
      <p:pic>
        <p:nvPicPr>
          <p:cNvPr id="1042" name="Picture 1041">
            <a:extLst>
              <a:ext uri="{FF2B5EF4-FFF2-40B4-BE49-F238E27FC236}">
                <a16:creationId xmlns:a16="http://schemas.microsoft.com/office/drawing/2014/main" id="{CA8302FB-B08E-BEAE-D871-C7DFCD9A9D2E}"/>
              </a:ext>
            </a:extLst>
          </p:cNvPr>
          <p:cNvPicPr>
            <a:picLocks noChangeAspect="1"/>
          </p:cNvPicPr>
          <p:nvPr/>
        </p:nvPicPr>
        <p:blipFill>
          <a:blip r:embed="rId9"/>
          <a:stretch>
            <a:fillRect/>
          </a:stretch>
        </p:blipFill>
        <p:spPr>
          <a:xfrm>
            <a:off x="234625" y="293750"/>
            <a:ext cx="3736564" cy="2562661"/>
          </a:xfrm>
          <a:prstGeom prst="rect">
            <a:avLst/>
          </a:prstGeom>
        </p:spPr>
      </p:pic>
      <p:sp>
        <p:nvSpPr>
          <p:cNvPr id="1043" name="TextBox 1042">
            <a:extLst>
              <a:ext uri="{FF2B5EF4-FFF2-40B4-BE49-F238E27FC236}">
                <a16:creationId xmlns:a16="http://schemas.microsoft.com/office/drawing/2014/main" id="{62B117AD-D550-EB9C-EC84-B0FC55632A1A}"/>
              </a:ext>
            </a:extLst>
          </p:cNvPr>
          <p:cNvSpPr txBox="1">
            <a:spLocks/>
          </p:cNvSpPr>
          <p:nvPr/>
        </p:nvSpPr>
        <p:spPr>
          <a:xfrm>
            <a:off x="16481093" y="27608574"/>
            <a:ext cx="9018816" cy="523220"/>
          </a:xfrm>
          <a:prstGeom prst="rect">
            <a:avLst/>
          </a:prstGeom>
          <a:noFill/>
        </p:spPr>
        <p:txBody>
          <a:bodyPr wrap="none" rtlCol="0">
            <a:spAutoFit/>
          </a:bodyPr>
          <a:lstStyle/>
          <a:p>
            <a:r>
              <a:rPr lang="en-US" sz="2800">
                <a:latin typeface="Times New Roman" panose="02020603050405020304" pitchFamily="18" charset="0"/>
                <a:cs typeface="Times New Roman" panose="02020603050405020304" pitchFamily="18" charset="0"/>
              </a:rPr>
              <a:t>Fig. 5. Detailed Schematic of the proposed clock multiplexer </a:t>
            </a:r>
            <a:endParaRPr lang="vi-VN" sz="2800">
              <a:latin typeface="Times New Roman" panose="02020603050405020304" pitchFamily="18" charset="0"/>
              <a:cs typeface="Times New Roman" panose="02020603050405020304" pitchFamily="18" charset="0"/>
            </a:endParaRPr>
          </a:p>
        </p:txBody>
      </p:sp>
      <p:pic>
        <p:nvPicPr>
          <p:cNvPr id="1045" name="Picture 6">
            <a:extLst>
              <a:ext uri="{FF2B5EF4-FFF2-40B4-BE49-F238E27FC236}">
                <a16:creationId xmlns:a16="http://schemas.microsoft.com/office/drawing/2014/main" id="{838540C4-831C-7BC9-00B2-72DA58C27D2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45093" y="32109073"/>
            <a:ext cx="10883064" cy="1560163"/>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8">
            <a:extLst>
              <a:ext uri="{FF2B5EF4-FFF2-40B4-BE49-F238E27FC236}">
                <a16:creationId xmlns:a16="http://schemas.microsoft.com/office/drawing/2014/main" id="{865D92E1-2193-35EE-3135-55E6088ED2D7}"/>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326"/>
          <a:stretch>
            <a:fillRect/>
          </a:stretch>
        </p:blipFill>
        <p:spPr bwMode="auto">
          <a:xfrm>
            <a:off x="974415" y="30372879"/>
            <a:ext cx="13889623" cy="1582305"/>
          </a:xfrm>
          <a:prstGeom prst="rect">
            <a:avLst/>
          </a:prstGeom>
          <a:noFill/>
          <a:extLst>
            <a:ext uri="{909E8E84-426E-40DD-AFC4-6F175D3DCCD1}">
              <a14:hiddenFill xmlns:a14="http://schemas.microsoft.com/office/drawing/2010/main">
                <a:solidFill>
                  <a:srgbClr val="FFFFFF"/>
                </a:solidFill>
              </a14:hiddenFill>
            </a:ext>
          </a:extLst>
        </p:spPr>
      </p:pic>
      <p:sp>
        <p:nvSpPr>
          <p:cNvPr id="1050" name="Google Shape;70;p13">
            <a:extLst>
              <a:ext uri="{FF2B5EF4-FFF2-40B4-BE49-F238E27FC236}">
                <a16:creationId xmlns:a16="http://schemas.microsoft.com/office/drawing/2014/main" id="{8EFE5CAB-C3FF-917A-FF09-3136EC94FE2E}"/>
              </a:ext>
            </a:extLst>
          </p:cNvPr>
          <p:cNvSpPr txBox="1">
            <a:spLocks/>
          </p:cNvSpPr>
          <p:nvPr/>
        </p:nvSpPr>
        <p:spPr>
          <a:xfrm>
            <a:off x="858333" y="28887832"/>
            <a:ext cx="28783774" cy="2455800"/>
          </a:xfrm>
          <a:prstGeom prst="rect">
            <a:avLst/>
          </a:prstGeom>
        </p:spPr>
        <p:txBody>
          <a:bodyPr spcFirstLastPara="1" vert="horz" wrap="square" lIns="464700" tIns="464700" rIns="464700" bIns="464700" rtlCol="0" anchor="t" anchorCtr="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spcBef>
                <a:spcPts val="0"/>
              </a:spcBef>
            </a:pPr>
            <a:r>
              <a:rPr lang="en-US" sz="3200" b="1">
                <a:solidFill>
                  <a:srgbClr val="1F4E79"/>
                </a:solidFill>
                <a:latin typeface="Oswald"/>
                <a:ea typeface="Oswald"/>
                <a:cs typeface="Oswald"/>
                <a:sym typeface="Oswald"/>
              </a:rPr>
              <a:t>RESULTS AND EVALUATION</a:t>
            </a:r>
          </a:p>
        </p:txBody>
      </p:sp>
      <p:cxnSp>
        <p:nvCxnSpPr>
          <p:cNvPr id="1052" name="Straight Connector 1051">
            <a:extLst>
              <a:ext uri="{FF2B5EF4-FFF2-40B4-BE49-F238E27FC236}">
                <a16:creationId xmlns:a16="http://schemas.microsoft.com/office/drawing/2014/main" id="{81B1DFE9-C5AF-3921-1ABB-319D050B24B8}"/>
              </a:ext>
            </a:extLst>
          </p:cNvPr>
          <p:cNvCxnSpPr>
            <a:cxnSpLocks/>
          </p:cNvCxnSpPr>
          <p:nvPr/>
        </p:nvCxnSpPr>
        <p:spPr>
          <a:xfrm>
            <a:off x="745720" y="14168522"/>
            <a:ext cx="28799999" cy="69916"/>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cxnSp>
        <p:nvCxnSpPr>
          <p:cNvPr id="1056" name="Straight Connector 1055">
            <a:extLst>
              <a:ext uri="{FF2B5EF4-FFF2-40B4-BE49-F238E27FC236}">
                <a16:creationId xmlns:a16="http://schemas.microsoft.com/office/drawing/2014/main" id="{5D6F31D9-E19A-C280-91A6-CD7223B89D1E}"/>
              </a:ext>
            </a:extLst>
          </p:cNvPr>
          <p:cNvCxnSpPr>
            <a:cxnSpLocks/>
          </p:cNvCxnSpPr>
          <p:nvPr/>
        </p:nvCxnSpPr>
        <p:spPr>
          <a:xfrm flipV="1">
            <a:off x="15183051" y="29802535"/>
            <a:ext cx="15039" cy="4494220"/>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sp>
        <p:nvSpPr>
          <p:cNvPr id="1059" name="TextBox 1058">
            <a:extLst>
              <a:ext uri="{FF2B5EF4-FFF2-40B4-BE49-F238E27FC236}">
                <a16:creationId xmlns:a16="http://schemas.microsoft.com/office/drawing/2014/main" id="{AE110FFE-10F1-90AE-1AC3-18B73FCD2177}"/>
              </a:ext>
            </a:extLst>
          </p:cNvPr>
          <p:cNvSpPr txBox="1">
            <a:spLocks/>
          </p:cNvSpPr>
          <p:nvPr/>
        </p:nvSpPr>
        <p:spPr>
          <a:xfrm>
            <a:off x="2226001" y="33707130"/>
            <a:ext cx="11386450" cy="523220"/>
          </a:xfrm>
          <a:prstGeom prst="rect">
            <a:avLst/>
          </a:prstGeom>
          <a:noFill/>
        </p:spPr>
        <p:txBody>
          <a:bodyPr wrap="none" rtlCol="0">
            <a:spAutoFit/>
          </a:bodyPr>
          <a:lstStyle/>
          <a:p>
            <a:r>
              <a:rPr lang="en-US" sz="2800">
                <a:latin typeface="Times New Roman" panose="02020603050405020304" pitchFamily="18" charset="0"/>
                <a:cs typeface="Times New Roman" panose="02020603050405020304" pitchFamily="18" charset="0"/>
              </a:rPr>
              <a:t>Fig. 6. Simulation Result under Failover (top) and Recovery scenarios (down)</a:t>
            </a:r>
            <a:endParaRPr lang="vi-VN" sz="2800">
              <a:latin typeface="Times New Roman" panose="02020603050405020304" pitchFamily="18" charset="0"/>
              <a:cs typeface="Times New Roman" panose="02020603050405020304" pitchFamily="18" charset="0"/>
            </a:endParaRPr>
          </a:p>
        </p:txBody>
      </p:sp>
      <p:sp>
        <p:nvSpPr>
          <p:cNvPr id="1061" name="TextBox 1060">
            <a:extLst>
              <a:ext uri="{FF2B5EF4-FFF2-40B4-BE49-F238E27FC236}">
                <a16:creationId xmlns:a16="http://schemas.microsoft.com/office/drawing/2014/main" id="{6A0FC937-0D73-27D0-81BB-2DDFE3D6E487}"/>
              </a:ext>
            </a:extLst>
          </p:cNvPr>
          <p:cNvSpPr txBox="1">
            <a:spLocks/>
          </p:cNvSpPr>
          <p:nvPr/>
        </p:nvSpPr>
        <p:spPr>
          <a:xfrm>
            <a:off x="5745713" y="29849659"/>
            <a:ext cx="4081823"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A. Functional Verification</a:t>
            </a:r>
            <a:endParaRPr lang="vi-VN" sz="2800" b="1" i="1">
              <a:latin typeface="Times New Roman" panose="02020603050405020304" pitchFamily="18" charset="0"/>
              <a:cs typeface="Times New Roman" panose="02020603050405020304" pitchFamily="18" charset="0"/>
            </a:endParaRPr>
          </a:p>
        </p:txBody>
      </p:sp>
      <p:sp>
        <p:nvSpPr>
          <p:cNvPr id="1063" name="TextBox 1062">
            <a:extLst>
              <a:ext uri="{FF2B5EF4-FFF2-40B4-BE49-F238E27FC236}">
                <a16:creationId xmlns:a16="http://schemas.microsoft.com/office/drawing/2014/main" id="{2B8B236D-5B04-827A-DD75-EDD76D711C20}"/>
              </a:ext>
            </a:extLst>
          </p:cNvPr>
          <p:cNvSpPr txBox="1">
            <a:spLocks/>
          </p:cNvSpPr>
          <p:nvPr/>
        </p:nvSpPr>
        <p:spPr>
          <a:xfrm>
            <a:off x="19378321" y="29849659"/>
            <a:ext cx="5980612"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B. Resource and Performance Analysis</a:t>
            </a:r>
            <a:endParaRPr lang="vi-VN" sz="2800" b="1" i="1">
              <a:latin typeface="Times New Roman" panose="02020603050405020304" pitchFamily="18" charset="0"/>
              <a:cs typeface="Times New Roman" panose="02020603050405020304" pitchFamily="18" charset="0"/>
            </a:endParaRPr>
          </a:p>
        </p:txBody>
      </p:sp>
      <p:cxnSp>
        <p:nvCxnSpPr>
          <p:cNvPr id="1066" name="Straight Connector 1065">
            <a:extLst>
              <a:ext uri="{FF2B5EF4-FFF2-40B4-BE49-F238E27FC236}">
                <a16:creationId xmlns:a16="http://schemas.microsoft.com/office/drawing/2014/main" id="{4A7955B3-AB32-DC31-58B7-BFE120C00093}"/>
              </a:ext>
            </a:extLst>
          </p:cNvPr>
          <p:cNvCxnSpPr>
            <a:cxnSpLocks/>
          </p:cNvCxnSpPr>
          <p:nvPr/>
        </p:nvCxnSpPr>
        <p:spPr>
          <a:xfrm flipV="1">
            <a:off x="11871028" y="7641444"/>
            <a:ext cx="0" cy="5757641"/>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cxnSp>
        <p:nvCxnSpPr>
          <p:cNvPr id="1069" name="Straight Connector 1068">
            <a:extLst>
              <a:ext uri="{FF2B5EF4-FFF2-40B4-BE49-F238E27FC236}">
                <a16:creationId xmlns:a16="http://schemas.microsoft.com/office/drawing/2014/main" id="{E76228CF-E137-2FAD-AC62-7F0814DFFA68}"/>
              </a:ext>
            </a:extLst>
          </p:cNvPr>
          <p:cNvCxnSpPr>
            <a:cxnSpLocks/>
          </p:cNvCxnSpPr>
          <p:nvPr/>
        </p:nvCxnSpPr>
        <p:spPr>
          <a:xfrm>
            <a:off x="760446" y="7641444"/>
            <a:ext cx="28799999" cy="69916"/>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sp>
        <p:nvSpPr>
          <p:cNvPr id="1073" name="TextBox 1072">
            <a:extLst>
              <a:ext uri="{FF2B5EF4-FFF2-40B4-BE49-F238E27FC236}">
                <a16:creationId xmlns:a16="http://schemas.microsoft.com/office/drawing/2014/main" id="{B14CF939-6D03-6DC5-DA84-F045B0A66D63}"/>
              </a:ext>
            </a:extLst>
          </p:cNvPr>
          <p:cNvSpPr txBox="1">
            <a:spLocks/>
          </p:cNvSpPr>
          <p:nvPr/>
        </p:nvSpPr>
        <p:spPr>
          <a:xfrm>
            <a:off x="16022587" y="30295290"/>
            <a:ext cx="13004650" cy="523220"/>
          </a:xfrm>
          <a:prstGeom prst="rect">
            <a:avLst/>
          </a:prstGeom>
          <a:noFill/>
        </p:spPr>
        <p:txBody>
          <a:bodyPr wrap="none" rtlCol="0">
            <a:spAutoFit/>
          </a:bodyPr>
          <a:lstStyle/>
          <a:p>
            <a:r>
              <a:rPr lang="en-US" sz="2800">
                <a:latin typeface="Times New Roman" panose="02020603050405020304" pitchFamily="18" charset="0"/>
                <a:cs typeface="Times New Roman" panose="02020603050405020304" pitchFamily="18" charset="0"/>
              </a:rPr>
              <a:t>Table I: Feature and Implementation Comparison for Various Clock Multiplexer Designs </a:t>
            </a:r>
            <a:endParaRPr lang="vi-VN" sz="2800">
              <a:latin typeface="Times New Roman" panose="02020603050405020304" pitchFamily="18" charset="0"/>
              <a:cs typeface="Times New Roman" panose="02020603050405020304" pitchFamily="18" charset="0"/>
            </a:endParaRPr>
          </a:p>
        </p:txBody>
      </p:sp>
      <p:cxnSp>
        <p:nvCxnSpPr>
          <p:cNvPr id="1075" name="Straight Connector 1074">
            <a:extLst>
              <a:ext uri="{FF2B5EF4-FFF2-40B4-BE49-F238E27FC236}">
                <a16:creationId xmlns:a16="http://schemas.microsoft.com/office/drawing/2014/main" id="{F55F7F80-1C2E-9321-EEF2-1CFE186E796A}"/>
              </a:ext>
            </a:extLst>
          </p:cNvPr>
          <p:cNvCxnSpPr>
            <a:cxnSpLocks/>
          </p:cNvCxnSpPr>
          <p:nvPr/>
        </p:nvCxnSpPr>
        <p:spPr>
          <a:xfrm>
            <a:off x="745720" y="29767577"/>
            <a:ext cx="28799999" cy="69916"/>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92" name="TextBox 1091">
                <a:extLst>
                  <a:ext uri="{FF2B5EF4-FFF2-40B4-BE49-F238E27FC236}">
                    <a16:creationId xmlns:a16="http://schemas.microsoft.com/office/drawing/2014/main" id="{95031F55-0C7E-2AFA-02A1-7F1A6DC60EE3}"/>
                  </a:ext>
                </a:extLst>
              </p:cNvPr>
              <p:cNvSpPr txBox="1"/>
              <p:nvPr/>
            </p:nvSpPr>
            <p:spPr>
              <a:xfrm>
                <a:off x="15440656" y="33096325"/>
                <a:ext cx="14391878" cy="1200329"/>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 The proposed GFCM provides full dual-stop safety (forces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𝑐𝑙𝑜𝑐𝑘</m:t>
                    </m:r>
                    <m:r>
                      <a:rPr lang="en-US" sz="2400" b="0" i="1" smtClean="0">
                        <a:latin typeface="Cambria Math" panose="02040503050406030204" pitchFamily="18" charset="0"/>
                        <a:cs typeface="Times New Roman" panose="02020603050405020304" pitchFamily="18" charset="0"/>
                      </a:rPr>
                      <m:t>_</m:t>
                    </m:r>
                    <m:r>
                      <a:rPr lang="en-US" sz="2400" b="0" i="1" smtClean="0">
                        <a:latin typeface="Cambria Math" panose="02040503050406030204" pitchFamily="18" charset="0"/>
                        <a:cs typeface="Times New Roman" panose="02020603050405020304" pitchFamily="18" charset="0"/>
                      </a:rPr>
                      <m:t>𝑜𝑢𝑡</m:t>
                    </m:r>
                  </m:oMath>
                </a14:m>
                <a:r>
                  <a:rPr lang="en-US" sz="2400">
                    <a:latin typeface="Times New Roman" panose="02020603050405020304" pitchFamily="18" charset="0"/>
                    <a:cs typeface="Times New Roman" panose="02020603050405020304" pitchFamily="18" charset="0"/>
                  </a:rPr>
                  <a:t>to logic low) for staggered failures via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𝑓𝑎𝑖𝑙</m:t>
                    </m:r>
                    <m:r>
                      <a:rPr lang="en-US" sz="2400" b="0" i="1" smtClean="0">
                        <a:latin typeface="Cambria Math" panose="02040503050406030204" pitchFamily="18" charset="0"/>
                        <a:cs typeface="Times New Roman" panose="02020603050405020304" pitchFamily="18" charset="0"/>
                      </a:rPr>
                      <m:t> </m:t>
                    </m:r>
                  </m:oMath>
                </a14:m>
                <a:r>
                  <a:rPr lang="en-US" sz="2400">
                    <a:latin typeface="Times New Roman" panose="02020603050405020304" pitchFamily="18" charset="0"/>
                    <a:cs typeface="Times New Roman" panose="02020603050405020304" pitchFamily="18" charset="0"/>
                  </a:rPr>
                  <a:t>signal. In the rare simultaneous failure case (both clocks stop within the same detection window), no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𝑓𝑎𝑖𝑙</m:t>
                    </m:r>
                  </m:oMath>
                </a14:m>
                <a:r>
                  <a:rPr lang="en-US" sz="2400">
                    <a:latin typeface="Times New Roman" panose="02020603050405020304" pitchFamily="18" charset="0"/>
                    <a:cs typeface="Times New Roman" panose="02020603050405020304" pitchFamily="18" charset="0"/>
                  </a:rPr>
                  <a:t> signal is asserted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𝑐𝑙𝑘</m:t>
                    </m:r>
                    <m:r>
                      <a:rPr lang="en-US" sz="2400" b="0" i="1" smtClean="0">
                        <a:latin typeface="Cambria Math" panose="02040503050406030204" pitchFamily="18" charset="0"/>
                        <a:cs typeface="Times New Roman" panose="02020603050405020304" pitchFamily="18" charset="0"/>
                      </a:rPr>
                      <m:t>_</m:t>
                    </m:r>
                    <m:r>
                      <a:rPr lang="en-US" sz="2400" b="0" i="1" smtClean="0">
                        <a:latin typeface="Cambria Math" panose="02040503050406030204" pitchFamily="18" charset="0"/>
                        <a:cs typeface="Times New Roman" panose="02020603050405020304" pitchFamily="18" charset="0"/>
                      </a:rPr>
                      <m:t>𝑜𝑢𝑡</m:t>
                    </m:r>
                  </m:oMath>
                </a14:m>
                <a:r>
                  <a:rPr lang="en-US" sz="2400">
                    <a:latin typeface="Times New Roman" panose="02020603050405020304" pitchFamily="18" charset="0"/>
                    <a:cs typeface="Times New Roman" panose="02020603050405020304" pitchFamily="18" charset="0"/>
                  </a:rPr>
                  <a:t> safely holds its last valid state until at least one clock recovers.</a:t>
                </a:r>
              </a:p>
            </p:txBody>
          </p:sp>
        </mc:Choice>
        <mc:Fallback xmlns="">
          <p:sp>
            <p:nvSpPr>
              <p:cNvPr id="1092" name="TextBox 1091">
                <a:extLst>
                  <a:ext uri="{FF2B5EF4-FFF2-40B4-BE49-F238E27FC236}">
                    <a16:creationId xmlns:a16="http://schemas.microsoft.com/office/drawing/2014/main" id="{95031F55-0C7E-2AFA-02A1-7F1A6DC60EE3}"/>
                  </a:ext>
                </a:extLst>
              </p:cNvPr>
              <p:cNvSpPr txBox="1">
                <a:spLocks noRot="1" noChangeAspect="1" noMove="1" noResize="1" noEditPoints="1" noAdjustHandles="1" noChangeArrowheads="1" noChangeShapeType="1" noTextEdit="1"/>
              </p:cNvSpPr>
              <p:nvPr/>
            </p:nvSpPr>
            <p:spPr>
              <a:xfrm>
                <a:off x="15440656" y="33096325"/>
                <a:ext cx="14391878" cy="1200329"/>
              </a:xfrm>
              <a:prstGeom prst="rect">
                <a:avLst/>
              </a:prstGeom>
              <a:blipFill>
                <a:blip r:embed="rId12"/>
                <a:stretch>
                  <a:fillRect l="-678" t="-4061" b="-10660"/>
                </a:stretch>
              </a:blipFill>
            </p:spPr>
            <p:txBody>
              <a:bodyPr/>
              <a:lstStyle/>
              <a:p>
                <a:r>
                  <a:rPr lang="en-US">
                    <a:noFill/>
                  </a:rPr>
                  <a:t> </a:t>
                </a:r>
              </a:p>
            </p:txBody>
          </p:sp>
        </mc:Fallback>
      </mc:AlternateContent>
      <p:sp>
        <p:nvSpPr>
          <p:cNvPr id="1094" name="Google Shape;72;p13">
            <a:extLst>
              <a:ext uri="{FF2B5EF4-FFF2-40B4-BE49-F238E27FC236}">
                <a16:creationId xmlns:a16="http://schemas.microsoft.com/office/drawing/2014/main" id="{62B8E4AA-2780-6E7B-1CB2-CC4BA47D3293}"/>
              </a:ext>
            </a:extLst>
          </p:cNvPr>
          <p:cNvSpPr>
            <a:spLocks/>
          </p:cNvSpPr>
          <p:nvPr/>
        </p:nvSpPr>
        <p:spPr>
          <a:xfrm>
            <a:off x="781090" y="34507282"/>
            <a:ext cx="14236723" cy="4563318"/>
          </a:xfrm>
          <a:prstGeom prst="rect">
            <a:avLst/>
          </a:prstGeom>
          <a:noFill/>
          <a:ln w="7620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095" name="Google Shape;72;p13">
            <a:extLst>
              <a:ext uri="{FF2B5EF4-FFF2-40B4-BE49-F238E27FC236}">
                <a16:creationId xmlns:a16="http://schemas.microsoft.com/office/drawing/2014/main" id="{6FC16703-B2F1-57E6-404C-DFC2F3BBE276}"/>
              </a:ext>
            </a:extLst>
          </p:cNvPr>
          <p:cNvSpPr>
            <a:spLocks/>
          </p:cNvSpPr>
          <p:nvPr/>
        </p:nvSpPr>
        <p:spPr>
          <a:xfrm>
            <a:off x="745720" y="39257431"/>
            <a:ext cx="28829217" cy="2331926"/>
          </a:xfrm>
          <a:prstGeom prst="rect">
            <a:avLst/>
          </a:prstGeom>
          <a:noFill/>
          <a:ln w="76200"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300"/>
          </a:p>
        </p:txBody>
      </p:sp>
      <p:sp>
        <p:nvSpPr>
          <p:cNvPr id="1096" name="Google Shape;73;p13">
            <a:extLst>
              <a:ext uri="{FF2B5EF4-FFF2-40B4-BE49-F238E27FC236}">
                <a16:creationId xmlns:a16="http://schemas.microsoft.com/office/drawing/2014/main" id="{2D480AFB-EF84-D45F-758D-107DD89910BE}"/>
              </a:ext>
            </a:extLst>
          </p:cNvPr>
          <p:cNvSpPr txBox="1">
            <a:spLocks/>
          </p:cNvSpPr>
          <p:nvPr/>
        </p:nvSpPr>
        <p:spPr>
          <a:xfrm>
            <a:off x="3297917" y="34164958"/>
            <a:ext cx="9301042" cy="2989775"/>
          </a:xfrm>
          <a:prstGeom prst="rect">
            <a:avLst/>
          </a:prstGeom>
        </p:spPr>
        <p:txBody>
          <a:bodyPr spcFirstLastPara="1" vert="horz" wrap="square" lIns="464700" tIns="464700" rIns="464700" bIns="464700" rtlCol="0" anchor="t" anchorCtr="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spcBef>
                <a:spcPts val="0"/>
              </a:spcBef>
            </a:pPr>
            <a:r>
              <a:rPr lang="en-US" sz="3200" b="1">
                <a:solidFill>
                  <a:srgbClr val="1F4E79"/>
                </a:solidFill>
                <a:latin typeface="Oswald"/>
                <a:ea typeface="Oswald"/>
                <a:cs typeface="Oswald"/>
                <a:sym typeface="Oswald"/>
              </a:rPr>
              <a:t>CONCLUSION</a:t>
            </a:r>
          </a:p>
        </p:txBody>
      </p:sp>
      <p:sp>
        <p:nvSpPr>
          <p:cNvPr id="1105" name="Google Shape;74;p13">
            <a:extLst>
              <a:ext uri="{FF2B5EF4-FFF2-40B4-BE49-F238E27FC236}">
                <a16:creationId xmlns:a16="http://schemas.microsoft.com/office/drawing/2014/main" id="{55EAF8BF-2D25-E510-570B-0E3CA118486C}"/>
              </a:ext>
            </a:extLst>
          </p:cNvPr>
          <p:cNvSpPr txBox="1">
            <a:spLocks/>
          </p:cNvSpPr>
          <p:nvPr/>
        </p:nvSpPr>
        <p:spPr>
          <a:xfrm>
            <a:off x="745720" y="34615806"/>
            <a:ext cx="14319187" cy="3907415"/>
          </a:xfrm>
          <a:prstGeom prst="rect">
            <a:avLst/>
          </a:prstGeom>
          <a:noFill/>
          <a:ln>
            <a:noFill/>
          </a:ln>
        </p:spPr>
        <p:txBody>
          <a:bodyPr spcFirstLastPara="1" wrap="square" lIns="464700" tIns="464700" rIns="464700" bIns="464700" anchor="t" anchorCtr="0">
            <a:noAutofit/>
          </a:bodyPr>
          <a:lstStyle>
            <a:defPPr marR="0" lvl="0" algn="l" rtl="0">
              <a:lnSpc>
                <a:spcPct val="100000"/>
              </a:lnSpc>
              <a:spcBef>
                <a:spcPts val="0"/>
              </a:spcBef>
              <a:spcAft>
                <a:spcPts val="0"/>
              </a:spcAft>
            </a:defPPr>
            <a:lvl1pPr marL="457200" marR="0" lvl="0" indent="-80645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1pPr>
            <a:lvl2pPr marL="914400" marR="0" lvl="1"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2pPr>
            <a:lvl3pPr marL="1371600" marR="0" lvl="2"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3pPr>
            <a:lvl4pPr marL="1828800" marR="0" lvl="3"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4pPr>
            <a:lvl5pPr marL="2286000" marR="0" lvl="4"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5pPr>
            <a:lvl6pPr marL="2743200" marR="0" lvl="5"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6pPr>
            <a:lvl7pPr marL="3200400" marR="0" lvl="6"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7pPr>
            <a:lvl8pPr marL="3657600" marR="0" lvl="7"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8pPr>
            <a:lvl9pPr marL="4114800" marR="0" lvl="8"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9pPr>
          </a:lstStyle>
          <a:p>
            <a:pPr marL="0" indent="0" algn="just">
              <a:buSzPts val="2450"/>
            </a:pPr>
            <a:r>
              <a:rPr lang="en-US" sz="2800">
                <a:solidFill>
                  <a:srgbClr val="000000"/>
                </a:solidFill>
                <a:latin typeface="Times New Roman"/>
                <a:ea typeface="Times New Roman"/>
                <a:cs typeface="Times New Roman"/>
                <a:sym typeface="Times New Roman"/>
              </a:rPr>
              <a:t>This work successfully implemented and verified an advanced, glitch-free clock multiplexer featuring integrated activity sensing and symmetric failover logic. By employing a layered architecture of cross-domain sampling and permission-driven selection, the design eliminates system deadlock during clock failure and ensures safe recovery to the primary source without manual intervention. Experimental benchmarks demonstrate that the proposed GFCM achieves a high operating frequency of 515.46 MHz while maintaining a minimal resource footprint of only 14 ALMs. This balance of high-speed performance and robust signal integrity makes the design an ideal solution for mission-critical, multi-clock SoC and FPGA applications where system uptime is paramount.</a:t>
            </a:r>
            <a:endParaRPr lang="vi-VN" sz="2800">
              <a:solidFill>
                <a:srgbClr val="000000"/>
              </a:solidFill>
              <a:latin typeface="Times New Roman"/>
              <a:ea typeface="Times New Roman"/>
              <a:cs typeface="Times New Roman"/>
              <a:sym typeface="Times New Roman"/>
            </a:endParaRPr>
          </a:p>
        </p:txBody>
      </p:sp>
      <p:sp>
        <p:nvSpPr>
          <p:cNvPr id="1106" name="Google Shape;76;p13">
            <a:extLst>
              <a:ext uri="{FF2B5EF4-FFF2-40B4-BE49-F238E27FC236}">
                <a16:creationId xmlns:a16="http://schemas.microsoft.com/office/drawing/2014/main" id="{BE6B802B-83D9-3EBF-F256-E1707C092E59}"/>
              </a:ext>
            </a:extLst>
          </p:cNvPr>
          <p:cNvSpPr txBox="1">
            <a:spLocks/>
          </p:cNvSpPr>
          <p:nvPr/>
        </p:nvSpPr>
        <p:spPr>
          <a:xfrm>
            <a:off x="6905236" y="38879448"/>
            <a:ext cx="16312560" cy="1395357"/>
          </a:xfrm>
          <a:prstGeom prst="rect">
            <a:avLst/>
          </a:prstGeom>
        </p:spPr>
        <p:txBody>
          <a:bodyPr spcFirstLastPara="1" vert="horz" wrap="square" lIns="464700" tIns="464700" rIns="464700" bIns="464700" rtlCol="0" anchor="t" anchorCtr="0">
            <a:normAutofit/>
          </a:bodyPr>
          <a:lstStyle>
            <a:lvl1pPr marL="0" indent="0" algn="ctr" defTabSz="3027487" rtl="0" eaLnBrk="1" latinLnBrk="0" hangingPunct="1">
              <a:lnSpc>
                <a:spcPct val="90000"/>
              </a:lnSpc>
              <a:spcBef>
                <a:spcPts val="3311"/>
              </a:spcBef>
              <a:buFont typeface="Arial" panose="020B0604020202020204" pitchFamily="34" charset="0"/>
              <a:buNone/>
              <a:defRPr sz="7946" kern="1200">
                <a:solidFill>
                  <a:schemeClr val="tx1"/>
                </a:solidFill>
                <a:latin typeface="+mn-lt"/>
                <a:ea typeface="+mn-ea"/>
                <a:cs typeface="+mn-cs"/>
              </a:defRPr>
            </a:lvl1pPr>
            <a:lvl2pPr marL="1513743" indent="0" algn="ctr" defTabSz="3027487" rtl="0" eaLnBrk="1" latinLnBrk="0" hangingPunct="1">
              <a:lnSpc>
                <a:spcPct val="90000"/>
              </a:lnSpc>
              <a:spcBef>
                <a:spcPts val="1655"/>
              </a:spcBef>
              <a:buFont typeface="Arial" panose="020B0604020202020204" pitchFamily="34" charset="0"/>
              <a:buNone/>
              <a:defRPr sz="6622" kern="1200">
                <a:solidFill>
                  <a:schemeClr val="tx1"/>
                </a:solidFill>
                <a:latin typeface="+mn-lt"/>
                <a:ea typeface="+mn-ea"/>
                <a:cs typeface="+mn-cs"/>
              </a:defRPr>
            </a:lvl2pPr>
            <a:lvl3pPr marL="3027487" indent="0" algn="ctr" defTabSz="3027487" rtl="0" eaLnBrk="1" latinLnBrk="0" hangingPunct="1">
              <a:lnSpc>
                <a:spcPct val="90000"/>
              </a:lnSpc>
              <a:spcBef>
                <a:spcPts val="1655"/>
              </a:spcBef>
              <a:buFont typeface="Arial" panose="020B0604020202020204" pitchFamily="34" charset="0"/>
              <a:buNone/>
              <a:defRPr sz="5960" kern="1200">
                <a:solidFill>
                  <a:schemeClr val="tx1"/>
                </a:solidFill>
                <a:latin typeface="+mn-lt"/>
                <a:ea typeface="+mn-ea"/>
                <a:cs typeface="+mn-cs"/>
              </a:defRPr>
            </a:lvl3pPr>
            <a:lvl4pPr marL="4541230"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4pPr>
            <a:lvl5pPr marL="605497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5pPr>
            <a:lvl6pPr marL="7568717"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6pPr>
            <a:lvl7pPr marL="9082461"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7pPr>
            <a:lvl8pPr marL="10596204"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8pPr>
            <a:lvl9pPr marL="12109948" indent="0" algn="ctr" defTabSz="3027487" rtl="0" eaLnBrk="1" latinLnBrk="0" hangingPunct="1">
              <a:lnSpc>
                <a:spcPct val="90000"/>
              </a:lnSpc>
              <a:spcBef>
                <a:spcPts val="1655"/>
              </a:spcBef>
              <a:buFont typeface="Arial" panose="020B0604020202020204" pitchFamily="34" charset="0"/>
              <a:buNone/>
              <a:defRPr sz="5297" kern="1200">
                <a:solidFill>
                  <a:schemeClr val="tx1"/>
                </a:solidFill>
                <a:latin typeface="+mn-lt"/>
                <a:ea typeface="+mn-ea"/>
                <a:cs typeface="+mn-cs"/>
              </a:defRPr>
            </a:lvl9pPr>
          </a:lstStyle>
          <a:p>
            <a:pPr>
              <a:spcBef>
                <a:spcPts val="0"/>
              </a:spcBef>
            </a:pPr>
            <a:r>
              <a:rPr lang="en-US" sz="3200" b="1">
                <a:solidFill>
                  <a:srgbClr val="1F4E79"/>
                </a:solidFill>
                <a:latin typeface="Oswald"/>
                <a:ea typeface="Oswald"/>
                <a:cs typeface="Oswald"/>
                <a:sym typeface="Oswald"/>
              </a:rPr>
              <a:t>REFERENCES</a:t>
            </a:r>
          </a:p>
        </p:txBody>
      </p:sp>
      <p:sp>
        <p:nvSpPr>
          <p:cNvPr id="1107" name="Google Shape;77;p13">
            <a:extLst>
              <a:ext uri="{FF2B5EF4-FFF2-40B4-BE49-F238E27FC236}">
                <a16:creationId xmlns:a16="http://schemas.microsoft.com/office/drawing/2014/main" id="{0EC5C8D9-FB11-001D-76F7-8C6FDFECE2D3}"/>
              </a:ext>
            </a:extLst>
          </p:cNvPr>
          <p:cNvSpPr txBox="1">
            <a:spLocks/>
          </p:cNvSpPr>
          <p:nvPr/>
        </p:nvSpPr>
        <p:spPr>
          <a:xfrm>
            <a:off x="515815" y="39212555"/>
            <a:ext cx="29059122" cy="1687468"/>
          </a:xfrm>
          <a:prstGeom prst="rect">
            <a:avLst/>
          </a:prstGeom>
          <a:noFill/>
          <a:ln>
            <a:noFill/>
          </a:ln>
        </p:spPr>
        <p:txBody>
          <a:bodyPr spcFirstLastPara="1" wrap="square" lIns="464700" tIns="464700" rIns="464700" bIns="464700" anchor="t" anchorCtr="0">
            <a:noAutofit/>
          </a:bodyPr>
          <a:lstStyle>
            <a:defPPr marR="0" lvl="0" algn="l" rtl="0">
              <a:lnSpc>
                <a:spcPct val="100000"/>
              </a:lnSpc>
              <a:spcBef>
                <a:spcPts val="0"/>
              </a:spcBef>
              <a:spcAft>
                <a:spcPts val="0"/>
              </a:spcAft>
            </a:defPPr>
            <a:lvl1pPr marL="457200" marR="0" lvl="0" indent="-80645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1pPr>
            <a:lvl2pPr marL="914400" marR="0" lvl="1"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2pPr>
            <a:lvl3pPr marL="1371600" marR="0" lvl="2"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3pPr>
            <a:lvl4pPr marL="1828800" marR="0" lvl="3"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4pPr>
            <a:lvl5pPr marL="2286000" marR="0" lvl="4"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5pPr>
            <a:lvl6pPr marL="2743200" marR="0" lvl="5"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6pPr>
            <a:lvl7pPr marL="3200400" marR="0" lvl="6"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7pPr>
            <a:lvl8pPr marL="3657600" marR="0" lvl="7"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8pPr>
            <a:lvl9pPr marL="4114800" marR="0" lvl="8" indent="-685800" algn="ctr" rtl="0">
              <a:lnSpc>
                <a:spcPct val="100000"/>
              </a:lnSpc>
              <a:spcBef>
                <a:spcPts val="0"/>
              </a:spcBef>
              <a:spcAft>
                <a:spcPts val="0"/>
              </a:spcAft>
              <a:buClr>
                <a:schemeClr val="dk2"/>
              </a:buClr>
              <a:buSzPts val="14400"/>
              <a:buFont typeface="Arial"/>
              <a:buNone/>
              <a:defRPr sz="14400" b="0" i="0" u="none" strike="noStrike" cap="none">
                <a:solidFill>
                  <a:schemeClr val="dk2"/>
                </a:solidFill>
                <a:latin typeface="Arial"/>
                <a:ea typeface="Arial"/>
                <a:cs typeface="Arial"/>
                <a:sym typeface="Arial"/>
              </a:defRPr>
            </a:lvl9pPr>
          </a:lstStyle>
          <a:p>
            <a:pPr marL="0" indent="0" algn="just">
              <a:buSzPts val="2450"/>
              <a:tabLst>
                <a:tab pos="538163" algn="l"/>
              </a:tabLst>
            </a:pPr>
            <a:r>
              <a:rPr lang="en-US" sz="2400">
                <a:solidFill>
                  <a:srgbClr val="000000"/>
                </a:solidFill>
                <a:latin typeface="Times New Roman"/>
                <a:ea typeface="Times New Roman"/>
                <a:cs typeface="Times New Roman"/>
                <a:sym typeface="Times New Roman"/>
              </a:rPr>
              <a:t>[1]	S. Zeidler, O. Schrape, A. Breitenreiter, and M. Krsti´c, “A glitch-freeclock multiplexer for non-continuously running clocks,” in 2020 23rdEuromicro Conference on Digital System Design (DSD), 2020, pp. 11–15.</a:t>
            </a:r>
          </a:p>
          <a:p>
            <a:pPr marL="0" indent="0" algn="just">
              <a:buSzPts val="2450"/>
              <a:tabLst>
                <a:tab pos="538163" algn="l"/>
              </a:tabLst>
            </a:pPr>
            <a:r>
              <a:rPr lang="en-US" sz="2400">
                <a:solidFill>
                  <a:srgbClr val="000000"/>
                </a:solidFill>
                <a:latin typeface="Times New Roman"/>
                <a:ea typeface="Times New Roman"/>
                <a:cs typeface="Times New Roman"/>
                <a:sym typeface="Times New Roman"/>
              </a:rPr>
              <a:t>[2]	R. Ginosar, “Fourteen ways to fool your synchronizer,” in Ninth In-ternational Symposium on Asynchronous Circuits and Systems, 2003.Proceedings., 2003, pp. 89–96.</a:t>
            </a:r>
          </a:p>
          <a:p>
            <a:pPr marL="0" indent="0" algn="just">
              <a:buSzPts val="2450"/>
              <a:tabLst>
                <a:tab pos="538163" algn="l"/>
              </a:tabLst>
            </a:pPr>
            <a:r>
              <a:rPr lang="en-US" sz="2400">
                <a:solidFill>
                  <a:srgbClr val="000000"/>
                </a:solidFill>
                <a:latin typeface="Times New Roman"/>
                <a:ea typeface="Times New Roman"/>
                <a:cs typeface="Times New Roman"/>
                <a:sym typeface="Times New Roman"/>
              </a:rPr>
              <a:t>[3]	D. Harris and S. Harris, Digital Design and Computer Architecture.Morgan Kaufmann, 2012.</a:t>
            </a:r>
          </a:p>
          <a:p>
            <a:pPr marL="0" indent="0" algn="just">
              <a:buSzPts val="2450"/>
              <a:tabLst>
                <a:tab pos="538163" algn="l"/>
              </a:tabLst>
            </a:pPr>
            <a:r>
              <a:rPr lang="en-US" sz="2400">
                <a:solidFill>
                  <a:srgbClr val="000000"/>
                </a:solidFill>
                <a:latin typeface="Times New Roman"/>
                <a:ea typeface="Times New Roman"/>
                <a:cs typeface="Times New Roman"/>
                <a:sym typeface="Times New Roman"/>
              </a:rPr>
              <a:t>[4]	T. V. Le and N. Van Dinh, “Glitch-free clock multiplexer usingreference-clock missing-pulse detection and safe-off recovery for SoCapplications,” in 2025 International Conference on Engineering andEmerging Technologies (ICEET), 2025, pp. 1–6.</a:t>
            </a:r>
          </a:p>
        </p:txBody>
      </p:sp>
      <p:pic>
        <p:nvPicPr>
          <p:cNvPr id="26" name="Picture 25">
            <a:extLst>
              <a:ext uri="{FF2B5EF4-FFF2-40B4-BE49-F238E27FC236}">
                <a16:creationId xmlns:a16="http://schemas.microsoft.com/office/drawing/2014/main" id="{AF2B7A50-364F-536B-C4E7-90800556D01B}"/>
              </a:ext>
            </a:extLst>
          </p:cNvPr>
          <p:cNvPicPr>
            <a:picLocks noChangeAspect="1"/>
          </p:cNvPicPr>
          <p:nvPr/>
        </p:nvPicPr>
        <p:blipFill>
          <a:blip r:embed="rId13"/>
          <a:stretch>
            <a:fillRect/>
          </a:stretch>
        </p:blipFill>
        <p:spPr>
          <a:xfrm>
            <a:off x="16517152" y="30787445"/>
            <a:ext cx="12238885" cy="2291360"/>
          </a:xfrm>
          <a:prstGeom prst="rect">
            <a:avLst/>
          </a:prstGeom>
        </p:spPr>
      </p:pic>
      <p:pic>
        <p:nvPicPr>
          <p:cNvPr id="9" name="Picture 8">
            <a:extLst>
              <a:ext uri="{FF2B5EF4-FFF2-40B4-BE49-F238E27FC236}">
                <a16:creationId xmlns:a16="http://schemas.microsoft.com/office/drawing/2014/main" id="{B3BB04AD-DA70-4903-F47F-160A31B2449F}"/>
              </a:ext>
            </a:extLst>
          </p:cNvPr>
          <p:cNvPicPr>
            <a:picLocks noChangeAspect="1"/>
          </p:cNvPicPr>
          <p:nvPr/>
        </p:nvPicPr>
        <p:blipFill>
          <a:blip r:embed="rId14"/>
          <a:stretch>
            <a:fillRect/>
          </a:stretch>
        </p:blipFill>
        <p:spPr>
          <a:xfrm>
            <a:off x="16946016" y="34987419"/>
            <a:ext cx="11381155" cy="2924180"/>
          </a:xfrm>
          <a:prstGeom prst="rect">
            <a:avLst/>
          </a:prstGeom>
        </p:spPr>
      </p:pic>
      <p:cxnSp>
        <p:nvCxnSpPr>
          <p:cNvPr id="1098" name="Straight Connector 1097">
            <a:extLst>
              <a:ext uri="{FF2B5EF4-FFF2-40B4-BE49-F238E27FC236}">
                <a16:creationId xmlns:a16="http://schemas.microsoft.com/office/drawing/2014/main" id="{0ED527B7-4194-E574-E458-96BB4040C0D1}"/>
              </a:ext>
            </a:extLst>
          </p:cNvPr>
          <p:cNvCxnSpPr>
            <a:cxnSpLocks/>
          </p:cNvCxnSpPr>
          <p:nvPr/>
        </p:nvCxnSpPr>
        <p:spPr>
          <a:xfrm>
            <a:off x="15198090" y="34328536"/>
            <a:ext cx="14338341" cy="0"/>
          </a:xfrm>
          <a:prstGeom prst="line">
            <a:avLst/>
          </a:prstGeom>
          <a:ln w="57150">
            <a:solidFill>
              <a:schemeClr val="bg1">
                <a:lumMod val="65000"/>
              </a:schemeClr>
            </a:solidFill>
            <a:prstDash val="sysDash"/>
          </a:ln>
        </p:spPr>
        <p:style>
          <a:lnRef idx="1">
            <a:schemeClr val="dk1"/>
          </a:lnRef>
          <a:fillRef idx="0">
            <a:schemeClr val="dk1"/>
          </a:fillRef>
          <a:effectRef idx="0">
            <a:schemeClr val="dk1"/>
          </a:effectRef>
          <a:fontRef idx="minor">
            <a:schemeClr val="tx1"/>
          </a:fontRef>
        </p:style>
      </p:cxnSp>
      <p:sp>
        <p:nvSpPr>
          <p:cNvPr id="1099" name="TextBox 1098">
            <a:extLst>
              <a:ext uri="{FF2B5EF4-FFF2-40B4-BE49-F238E27FC236}">
                <a16:creationId xmlns:a16="http://schemas.microsoft.com/office/drawing/2014/main" id="{99AA41F7-E79F-D92C-D92F-A363EBEE6CD4}"/>
              </a:ext>
            </a:extLst>
          </p:cNvPr>
          <p:cNvSpPr txBox="1">
            <a:spLocks/>
          </p:cNvSpPr>
          <p:nvPr/>
        </p:nvSpPr>
        <p:spPr>
          <a:xfrm>
            <a:off x="19586047" y="34464199"/>
            <a:ext cx="6101094" cy="523220"/>
          </a:xfrm>
          <a:prstGeom prst="rect">
            <a:avLst/>
          </a:prstGeom>
          <a:noFill/>
        </p:spPr>
        <p:txBody>
          <a:bodyPr wrap="none" rtlCol="0">
            <a:spAutoFit/>
          </a:bodyPr>
          <a:lstStyle/>
          <a:p>
            <a:r>
              <a:rPr lang="en-US" sz="2800" b="1" i="1">
                <a:latin typeface="Times New Roman" panose="02020603050405020304" pitchFamily="18" charset="0"/>
                <a:cs typeface="Times New Roman" panose="02020603050405020304" pitchFamily="18" charset="0"/>
              </a:rPr>
              <a:t>C. Academic Validation and Publication</a:t>
            </a:r>
            <a:endParaRPr lang="vi-VN" sz="2800" b="1" i="1">
              <a:latin typeface="Times New Roman" panose="02020603050405020304" pitchFamily="18" charset="0"/>
              <a:cs typeface="Times New Roman" panose="02020603050405020304" pitchFamily="18" charset="0"/>
            </a:endParaRPr>
          </a:p>
        </p:txBody>
      </p:sp>
      <p:sp>
        <p:nvSpPr>
          <p:cNvPr id="1101" name="TextBox 1100">
            <a:extLst>
              <a:ext uri="{FF2B5EF4-FFF2-40B4-BE49-F238E27FC236}">
                <a16:creationId xmlns:a16="http://schemas.microsoft.com/office/drawing/2014/main" id="{DB2DC2BF-4DA3-FA4B-B6AB-977152E0885B}"/>
              </a:ext>
            </a:extLst>
          </p:cNvPr>
          <p:cNvSpPr txBox="1">
            <a:spLocks/>
          </p:cNvSpPr>
          <p:nvPr/>
        </p:nvSpPr>
        <p:spPr>
          <a:xfrm>
            <a:off x="15033956" y="37964262"/>
            <a:ext cx="14669342" cy="954107"/>
          </a:xfrm>
          <a:prstGeom prst="rect">
            <a:avLst/>
          </a:prstGeom>
          <a:noFill/>
        </p:spPr>
        <p:txBody>
          <a:bodyPr wrap="square" rtlCol="0">
            <a:spAutoFit/>
          </a:bodyPr>
          <a:lstStyle/>
          <a:p>
            <a:pPr algn="ctr"/>
            <a:r>
              <a:rPr lang="en-US" sz="2800">
                <a:latin typeface="Times New Roman" panose="02020603050405020304" pitchFamily="18" charset="0"/>
                <a:cs typeface="Times New Roman" panose="02020603050405020304" pitchFamily="18" charset="0"/>
              </a:rPr>
              <a:t>Fig. 7. This work has been written as a full scientific paper and submitted to the 2nd IEEE International Conference on Information, Implementation and Innovation in Technology 2026 </a:t>
            </a:r>
            <a:endParaRPr lang="vi-VN" sz="2800">
              <a:latin typeface="Times New Roman" panose="02020603050405020304" pitchFamily="18" charset="0"/>
              <a:cs typeface="Times New Roman" panose="02020603050405020304" pitchFamily="18" charset="0"/>
            </a:endParaRPr>
          </a:p>
        </p:txBody>
      </p:sp>
      <p:cxnSp>
        <p:nvCxnSpPr>
          <p:cNvPr id="1031" name="Straight Connector 1030">
            <a:extLst>
              <a:ext uri="{FF2B5EF4-FFF2-40B4-BE49-F238E27FC236}">
                <a16:creationId xmlns:a16="http://schemas.microsoft.com/office/drawing/2014/main" id="{A863A5B1-E09E-F493-B58D-9CFE5A7C61E2}"/>
              </a:ext>
            </a:extLst>
          </p:cNvPr>
          <p:cNvCxnSpPr>
            <a:cxnSpLocks/>
          </p:cNvCxnSpPr>
          <p:nvPr/>
        </p:nvCxnSpPr>
        <p:spPr>
          <a:xfrm>
            <a:off x="736431" y="29120049"/>
            <a:ext cx="0" cy="5252256"/>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054" name="Straight Connector 1053">
            <a:extLst>
              <a:ext uri="{FF2B5EF4-FFF2-40B4-BE49-F238E27FC236}">
                <a16:creationId xmlns:a16="http://schemas.microsoft.com/office/drawing/2014/main" id="{57D42571-84B8-B54A-394E-B14EAE0349CB}"/>
              </a:ext>
            </a:extLst>
          </p:cNvPr>
          <p:cNvCxnSpPr>
            <a:cxnSpLocks/>
          </p:cNvCxnSpPr>
          <p:nvPr/>
        </p:nvCxnSpPr>
        <p:spPr>
          <a:xfrm>
            <a:off x="700275" y="29095844"/>
            <a:ext cx="28874663" cy="0"/>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065" name="Straight Connector 1064">
            <a:extLst>
              <a:ext uri="{FF2B5EF4-FFF2-40B4-BE49-F238E27FC236}">
                <a16:creationId xmlns:a16="http://schemas.microsoft.com/office/drawing/2014/main" id="{9F98A686-B926-4C2B-F0D6-02DE6841757B}"/>
              </a:ext>
            </a:extLst>
          </p:cNvPr>
          <p:cNvCxnSpPr>
            <a:cxnSpLocks/>
          </p:cNvCxnSpPr>
          <p:nvPr/>
        </p:nvCxnSpPr>
        <p:spPr>
          <a:xfrm>
            <a:off x="29545719" y="29095844"/>
            <a:ext cx="0" cy="5252256"/>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071" name="Straight Connector 1070">
            <a:extLst>
              <a:ext uri="{FF2B5EF4-FFF2-40B4-BE49-F238E27FC236}">
                <a16:creationId xmlns:a16="http://schemas.microsoft.com/office/drawing/2014/main" id="{36FF5281-B044-DD6D-2C8A-AE03C6D30657}"/>
              </a:ext>
            </a:extLst>
          </p:cNvPr>
          <p:cNvCxnSpPr>
            <a:cxnSpLocks/>
          </p:cNvCxnSpPr>
          <p:nvPr/>
        </p:nvCxnSpPr>
        <p:spPr>
          <a:xfrm>
            <a:off x="700275" y="34324929"/>
            <a:ext cx="14460170" cy="10747"/>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nvGrpSpPr>
          <p:cNvPr id="1122" name="Group 1121">
            <a:extLst>
              <a:ext uri="{FF2B5EF4-FFF2-40B4-BE49-F238E27FC236}">
                <a16:creationId xmlns:a16="http://schemas.microsoft.com/office/drawing/2014/main" id="{6F689CB5-0AF5-013F-4DC3-BE011E6A2854}"/>
              </a:ext>
            </a:extLst>
          </p:cNvPr>
          <p:cNvGrpSpPr/>
          <p:nvPr/>
        </p:nvGrpSpPr>
        <p:grpSpPr>
          <a:xfrm>
            <a:off x="15137331" y="34296754"/>
            <a:ext cx="14423114" cy="4824784"/>
            <a:chOff x="15137331" y="34974792"/>
            <a:chExt cx="14423114" cy="3536688"/>
          </a:xfrm>
        </p:grpSpPr>
        <p:cxnSp>
          <p:nvCxnSpPr>
            <p:cNvPr id="27" name="Straight Connector 26">
              <a:extLst>
                <a:ext uri="{FF2B5EF4-FFF2-40B4-BE49-F238E27FC236}">
                  <a16:creationId xmlns:a16="http://schemas.microsoft.com/office/drawing/2014/main" id="{0F312E3F-C920-0A84-47F0-B187C0354F51}"/>
                </a:ext>
              </a:extLst>
            </p:cNvPr>
            <p:cNvCxnSpPr>
              <a:cxnSpLocks/>
            </p:cNvCxnSpPr>
            <p:nvPr/>
          </p:nvCxnSpPr>
          <p:spPr>
            <a:xfrm>
              <a:off x="15137331" y="38474572"/>
              <a:ext cx="14423114" cy="0"/>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F9944C6-C5D8-3A2E-3F5D-06C06E384930}"/>
                </a:ext>
              </a:extLst>
            </p:cNvPr>
            <p:cNvCxnSpPr>
              <a:cxnSpLocks/>
            </p:cNvCxnSpPr>
            <p:nvPr/>
          </p:nvCxnSpPr>
          <p:spPr>
            <a:xfrm>
              <a:off x="15160445" y="34974792"/>
              <a:ext cx="0" cy="3536688"/>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102" name="Straight Connector 1101">
              <a:extLst>
                <a:ext uri="{FF2B5EF4-FFF2-40B4-BE49-F238E27FC236}">
                  <a16:creationId xmlns:a16="http://schemas.microsoft.com/office/drawing/2014/main" id="{01AE9F80-77BC-91AF-88A3-FCFAB4A46615}"/>
                </a:ext>
              </a:extLst>
            </p:cNvPr>
            <p:cNvCxnSpPr>
              <a:cxnSpLocks/>
            </p:cNvCxnSpPr>
            <p:nvPr/>
          </p:nvCxnSpPr>
          <p:spPr>
            <a:xfrm>
              <a:off x="29545719" y="35024094"/>
              <a:ext cx="0" cy="3450478"/>
            </a:xfrm>
            <a:prstGeom prst="line">
              <a:avLst/>
            </a:prstGeom>
            <a:ln w="762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64129428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829</TotalTime>
  <Words>773</Words>
  <Application>Microsoft Office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Cambria Math</vt:lpstr>
      <vt:lpstr>Oswald</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Truong Hai Minh</dc:creator>
  <cp:lastModifiedBy>Truong Hai Minh</cp:lastModifiedBy>
  <cp:revision>30</cp:revision>
  <dcterms:created xsi:type="dcterms:W3CDTF">2026-04-13T23:57:50Z</dcterms:created>
  <dcterms:modified xsi:type="dcterms:W3CDTF">2026-04-17T06:30:26Z</dcterms:modified>
</cp:coreProperties>
</file>