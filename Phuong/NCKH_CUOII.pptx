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0"/>
  </p:notesMasterIdLst>
  <p:sldIdLst>
    <p:sldId id="256" r:id="rId2"/>
    <p:sldId id="275" r:id="rId3"/>
    <p:sldId id="283" r:id="rId4"/>
    <p:sldId id="262" r:id="rId5"/>
    <p:sldId id="267" r:id="rId6"/>
    <p:sldId id="287" r:id="rId7"/>
    <p:sldId id="276" r:id="rId8"/>
    <p:sldId id="278" r:id="rId9"/>
    <p:sldId id="284" r:id="rId10"/>
    <p:sldId id="280" r:id="rId11"/>
    <p:sldId id="288" r:id="rId12"/>
    <p:sldId id="289" r:id="rId13"/>
    <p:sldId id="294" r:id="rId14"/>
    <p:sldId id="281" r:id="rId15"/>
    <p:sldId id="282" r:id="rId16"/>
    <p:sldId id="291" r:id="rId17"/>
    <p:sldId id="295" r:id="rId18"/>
    <p:sldId id="29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25859-0BD2-423E-9D27-CBDE27F8BBA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8BD86-BE97-4EB8-A633-B3AAB59E9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056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Glitch (unsynchronized)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8BD86-BE97-4EB8-A633-B3AAB59E95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29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metastability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8BD86-BE97-4EB8-A633-B3AAB59E95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24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Layer 1: die or live</a:t>
            </a:r>
          </a:p>
          <a:p>
            <a:r>
              <a:rPr lang="en-US"/>
              <a:t>Layer 2: sync with sel (if selected clock died, other lives) </a:t>
            </a:r>
            <a:r>
              <a:rPr lang="en-US">
                <a:sym typeface="Wingdings" panose="05000000000000000000" pitchFamily="2" charset="2"/>
              </a:rPr>
              <a:t> others. And normal, normal</a:t>
            </a:r>
          </a:p>
          <a:p>
            <a:r>
              <a:rPr lang="en-US">
                <a:sym typeface="Wingdings" panose="05000000000000000000" pitchFamily="2" charset="2"/>
              </a:rPr>
              <a:t>Layer 3: synchronize and break before make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8BD86-BE97-4EB8-A633-B3AAB59E95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25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5026" y="6353004"/>
            <a:ext cx="2743200" cy="365125"/>
          </a:xfrm>
        </p:spPr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0198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28310" y="6356350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872110" y="-2030424"/>
            <a:ext cx="10583741" cy="9974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2110" y="-782219"/>
            <a:ext cx="10583741" cy="3849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97" y="1582451"/>
            <a:ext cx="8678656" cy="178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77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794" y="6362529"/>
            <a:ext cx="2743200" cy="365125"/>
          </a:xfrm>
        </p:spPr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8593" y="6356350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42D89-B98B-F946-A31D-7ACA5974D791}"/>
              </a:ext>
            </a:extLst>
          </p:cNvPr>
          <p:cNvSpPr txBox="1"/>
          <p:nvPr userDrawn="1"/>
        </p:nvSpPr>
        <p:spPr>
          <a:xfrm>
            <a:off x="10405835" y="6593718"/>
            <a:ext cx="1653425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781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9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0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9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60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" y="862149"/>
            <a:ext cx="7096258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Hình ảnh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60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 baseline="0">
                <a:solidFill>
                  <a:srgbClr val="22377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CHỦ ĐỀ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06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1899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223771"/>
                </a:solidFill>
              </a:defRPr>
            </a:lvl1pPr>
          </a:lstStyle>
          <a:p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08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09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97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FED9-1C4B-A81C-DFF9-9CC823E02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95846-F504-817A-5B05-859EB66B0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69FA-4921-455C-A446-155C3AA14D9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FE5FC-A031-00B7-B112-281AC6E3D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AD7249-9872-341B-6C70-8C573BE7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B98F-50EC-4AA1-843A-31FB3BF89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33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76A3-281D-4676-55ED-A8F4AE8C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82784-A84F-1357-7811-038F1ACE7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7944F-5D3C-4716-9B33-D640E0A38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95497-4EF5-75CC-87B8-911932BF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E0224-07FA-FC70-DBF9-3C1C9EB2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1F6D6-36B2-4A11-AC4D-FE44001A9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5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AE6AC-9427-433F-AC00-F723CA5DD87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25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6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154E1C-1899-BBBF-CB31-818CA53B10BD}"/>
              </a:ext>
            </a:extLst>
          </p:cNvPr>
          <p:cNvSpPr txBox="1"/>
          <p:nvPr/>
        </p:nvSpPr>
        <p:spPr>
          <a:xfrm>
            <a:off x="262443" y="3580201"/>
            <a:ext cx="11929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Glitch-Free Clock Multiplexer with Symmetric Failover: Design and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A46118-7D6C-379C-FFF7-1F5223319B5A}"/>
              </a:ext>
            </a:extLst>
          </p:cNvPr>
          <p:cNvSpPr txBox="1"/>
          <p:nvPr/>
        </p:nvSpPr>
        <p:spPr>
          <a:xfrm>
            <a:off x="3958780" y="4842085"/>
            <a:ext cx="42744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Tutor: PhD. Thuan Van 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2ED94F-E1AC-B40D-AFDB-931C64AEC200}"/>
              </a:ext>
            </a:extLst>
          </p:cNvPr>
          <p:cNvSpPr txBox="1"/>
          <p:nvPr/>
        </p:nvSpPr>
        <p:spPr>
          <a:xfrm>
            <a:off x="3993866" y="5396083"/>
            <a:ext cx="434022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Contributor 1: Hai Minh Truong</a:t>
            </a:r>
          </a:p>
          <a:p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Contributor 2: </a:t>
            </a:r>
            <a:r>
              <a:rPr lang="vi-V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Phuong Thi Vu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60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E8C7A-EE9A-07BD-C5E5-D8B018C3E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30" y="227160"/>
            <a:ext cx="8061101" cy="553289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944DCCF-8DFE-51B1-085F-E00A52DCAD43}"/>
              </a:ext>
            </a:extLst>
          </p:cNvPr>
          <p:cNvSpPr txBox="1">
            <a:spLocks/>
          </p:cNvSpPr>
          <p:nvPr/>
        </p:nvSpPr>
        <p:spPr>
          <a:xfrm>
            <a:off x="254630" y="780449"/>
            <a:ext cx="11682740" cy="52353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 baseline="0">
                <a:solidFill>
                  <a:srgbClr val="22377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476A901-4D94-FEBF-071C-8F4E211FD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80449"/>
            <a:ext cx="1186117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Arial" panose="020B0604020202020204" pitchFamily="34" charset="0"/>
              </a:rPr>
              <a:t>Clock switching in multi-clock SoC/FPGA systems is a critical challenge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Conventional designs suffer from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glitches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metastability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deadlock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 clock failure</a:t>
            </a:r>
            <a:endParaRPr kumimoji="0" lang="vi-VN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solutions cannot simultaneously guarantee glitch-free, deadlock-free, and autonomous failover</a:t>
            </a:r>
            <a:endParaRPr kumimoji="0" lang="vi-VN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work proposes a novel GFCM architecture enabling safe switching and reliable recovery without external reference clock</a:t>
            </a:r>
          </a:p>
        </p:txBody>
      </p:sp>
    </p:spTree>
    <p:extLst>
      <p:ext uri="{BB962C8B-B14F-4D97-AF65-F5344CB8AC3E}">
        <p14:creationId xmlns:p14="http://schemas.microsoft.com/office/powerpoint/2010/main" val="811765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1BB2-BB90-E6F3-C546-75E5EF747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Contents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E9120-B7BB-3F22-F511-C01A11F7CDF3}"/>
              </a:ext>
            </a:extLst>
          </p:cNvPr>
          <p:cNvSpPr txBox="1"/>
          <p:nvPr/>
        </p:nvSpPr>
        <p:spPr>
          <a:xfrm>
            <a:off x="324528" y="1012954"/>
            <a:ext cx="1154294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Prior Work and Limitations</a:t>
            </a: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Design Objectives</a:t>
            </a: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639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7921B-93BD-1679-B557-B781FD640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</a:t>
            </a:r>
            <a:r>
              <a:rPr lang="en-US" dirty="0"/>
              <a:t>Problems: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95C4E7-020D-722A-23A8-A13657586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514" y="1085249"/>
            <a:ext cx="7002971" cy="27910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7664B4-F8E1-5F7F-1F6B-B277CA7ACD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293840"/>
            <a:ext cx="12192000" cy="101812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DA1D369-F6D2-5626-6A75-15CCE53A0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41890"/>
            <a:ext cx="12192000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Glitch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 unwanted short pulse at the output caused by unsynchronized switching between signals or clocks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996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10F03-E2E7-E7CF-3CD3-29B107A1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6B732C-C12F-4C3F-812C-858C8D06027D}"/>
              </a:ext>
            </a:extLst>
          </p:cNvPr>
          <p:cNvSpPr txBox="1"/>
          <p:nvPr/>
        </p:nvSpPr>
        <p:spPr>
          <a:xfrm>
            <a:off x="313642" y="629348"/>
            <a:ext cx="68515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Metastabilities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between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 clock domain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(2flipflop to solve)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C7D41C-FAF9-CF70-6EEB-35899145D6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5081" y="1125709"/>
            <a:ext cx="6179278" cy="4740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183E5F-7B38-EA7A-2AFE-E3CD467967E8}"/>
              </a:ext>
            </a:extLst>
          </p:cNvPr>
          <p:cNvSpPr txBox="1"/>
          <p:nvPr/>
        </p:nvSpPr>
        <p:spPr>
          <a:xfrm>
            <a:off x="853440" y="4163784"/>
            <a:ext cx="169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Probs (H or L ?)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D0570B-6584-EFB6-0CA2-C4E0891AC3A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550160" y="4348450"/>
            <a:ext cx="1960880" cy="3370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8F13D0-9426-9296-3FBB-B18D231CEF61}"/>
              </a:ext>
            </a:extLst>
          </p:cNvPr>
          <p:cNvSpPr txBox="1"/>
          <p:nvPr/>
        </p:nvSpPr>
        <p:spPr>
          <a:xfrm>
            <a:off x="9641840" y="4601091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F3FE40-AF3D-34BF-A2AA-2720CABDE7B0}"/>
              </a:ext>
            </a:extLst>
          </p:cNvPr>
          <p:cNvCxnSpPr>
            <a:cxnSpLocks/>
          </p:cNvCxnSpPr>
          <p:nvPr/>
        </p:nvCxnSpPr>
        <p:spPr>
          <a:xfrm flipH="1" flipV="1">
            <a:off x="7172962" y="2331159"/>
            <a:ext cx="2489200" cy="245459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4320376-E818-D4E1-D1EA-471D53FE9EDF}"/>
              </a:ext>
            </a:extLst>
          </p:cNvPr>
          <p:cNvSpPr txBox="1"/>
          <p:nvPr/>
        </p:nvSpPr>
        <p:spPr>
          <a:xfrm>
            <a:off x="771054" y="2782041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Synchronize?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92AE61-95A4-5374-1714-2E87E85CD502}"/>
              </a:ext>
            </a:extLst>
          </p:cNvPr>
          <p:cNvCxnSpPr>
            <a:stCxn id="14" idx="3"/>
          </p:cNvCxnSpPr>
          <p:nvPr/>
        </p:nvCxnSpPr>
        <p:spPr>
          <a:xfrm flipV="1">
            <a:off x="2212474" y="2595867"/>
            <a:ext cx="1054692" cy="370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0CE085-9E4B-A348-0CE8-8F0EACCC8F4E}"/>
              </a:ext>
            </a:extLst>
          </p:cNvPr>
          <p:cNvCxnSpPr>
            <a:stCxn id="14" idx="3"/>
          </p:cNvCxnSpPr>
          <p:nvPr/>
        </p:nvCxnSpPr>
        <p:spPr>
          <a:xfrm flipV="1">
            <a:off x="2212474" y="2595867"/>
            <a:ext cx="3046052" cy="370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A77751B-543E-34D8-DD27-EEE17922D910}"/>
              </a:ext>
            </a:extLst>
          </p:cNvPr>
          <p:cNvSpPr/>
          <p:nvPr/>
        </p:nvSpPr>
        <p:spPr>
          <a:xfrm>
            <a:off x="5473836" y="1125709"/>
            <a:ext cx="2721429" cy="1656332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952F54-40D2-4943-1A1D-0EADD2187009}"/>
              </a:ext>
            </a:extLst>
          </p:cNvPr>
          <p:cNvCxnSpPr>
            <a:cxnSpLocks/>
            <a:stCxn id="14" idx="2"/>
            <a:endCxn id="5" idx="0"/>
          </p:cNvCxnSpPr>
          <p:nvPr/>
        </p:nvCxnSpPr>
        <p:spPr>
          <a:xfrm>
            <a:off x="1491764" y="3151373"/>
            <a:ext cx="210036" cy="10124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547747C-E1CB-2EB6-6286-6F7DE6485C0E}"/>
              </a:ext>
            </a:extLst>
          </p:cNvPr>
          <p:cNvSpPr txBox="1"/>
          <p:nvPr/>
        </p:nvSpPr>
        <p:spPr>
          <a:xfrm>
            <a:off x="358140" y="5914859"/>
            <a:ext cx="8305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Indeterminate state caused by asynchronous sampling near clock edge</a:t>
            </a:r>
          </a:p>
        </p:txBody>
      </p:sp>
    </p:spTree>
    <p:extLst>
      <p:ext uri="{BB962C8B-B14F-4D97-AF65-F5344CB8AC3E}">
        <p14:creationId xmlns:p14="http://schemas.microsoft.com/office/powerpoint/2010/main" val="1569572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AD6C2-D50B-4DE7-B7D5-ADF60190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926C8-2C32-B931-3B83-3ED090C63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Deadclock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026222-96AA-AC77-E11B-AD32F2B61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9655"/>
            <a:ext cx="12192000" cy="12167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45917A8-A968-6887-0E5F-F69487EC67D1}"/>
              </a:ext>
            </a:extLst>
          </p:cNvPr>
          <p:cNvSpPr/>
          <p:nvPr/>
        </p:nvSpPr>
        <p:spPr>
          <a:xfrm>
            <a:off x="8164286" y="1774371"/>
            <a:ext cx="3690257" cy="66183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501FBE-2361-E6FD-AEB9-055E81FBA8FE}"/>
              </a:ext>
            </a:extLst>
          </p:cNvPr>
          <p:cNvCxnSpPr/>
          <p:nvPr/>
        </p:nvCxnSpPr>
        <p:spPr>
          <a:xfrm>
            <a:off x="9628414" y="2436205"/>
            <a:ext cx="762000" cy="533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0E460C5-2AD2-5BF0-84F9-6BD5AF8DB0C4}"/>
              </a:ext>
            </a:extLst>
          </p:cNvPr>
          <p:cNvSpPr txBox="1"/>
          <p:nvPr/>
        </p:nvSpPr>
        <p:spPr>
          <a:xfrm>
            <a:off x="10390414" y="2806405"/>
            <a:ext cx="156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err="1"/>
              <a:t>Deadclock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7AEB4-D63F-594F-2FB4-72392561DF0F}"/>
              </a:ext>
            </a:extLst>
          </p:cNvPr>
          <p:cNvSpPr txBox="1"/>
          <p:nvPr/>
        </p:nvSpPr>
        <p:spPr>
          <a:xfrm>
            <a:off x="0" y="3210035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system enters a deadlock condition, resulting in the output clock being stuck at a constant logic level (no toggling)</a:t>
            </a:r>
          </a:p>
        </p:txBody>
      </p:sp>
    </p:spTree>
    <p:extLst>
      <p:ext uri="{BB962C8B-B14F-4D97-AF65-F5344CB8AC3E}">
        <p14:creationId xmlns:p14="http://schemas.microsoft.com/office/powerpoint/2010/main" val="4235768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E1BB-922A-7A4F-5A7E-FF6874738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772" y="666802"/>
            <a:ext cx="8061101" cy="553289"/>
          </a:xfrm>
        </p:spPr>
        <p:txBody>
          <a:bodyPr>
            <a:normAutofit/>
          </a:bodyPr>
          <a:lstStyle/>
          <a:p>
            <a:r>
              <a:rPr lang="en-US" sz="3000" i="1" dirty="0"/>
              <a:t>Break-before-make model: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682DE-5F10-C0BE-C904-FD7AF7171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8700"/>
            <a:ext cx="12192000" cy="1216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5EC62D-3F32-9C34-720F-BF7AE1DFE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068" y="1260508"/>
            <a:ext cx="7841863" cy="373836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96953A4-BB44-4141-8AE0-24AF81A5B6CB}"/>
              </a:ext>
            </a:extLst>
          </p:cNvPr>
          <p:cNvSpPr/>
          <p:nvPr/>
        </p:nvSpPr>
        <p:spPr>
          <a:xfrm>
            <a:off x="4259943" y="1709028"/>
            <a:ext cx="579120" cy="50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A23377-EF6C-75A2-B075-2BD14A3CE562}"/>
              </a:ext>
            </a:extLst>
          </p:cNvPr>
          <p:cNvSpPr/>
          <p:nvPr/>
        </p:nvSpPr>
        <p:spPr>
          <a:xfrm>
            <a:off x="5441599" y="1709028"/>
            <a:ext cx="579120" cy="50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528466-0C04-BB92-E720-4EB23C1A9979}"/>
              </a:ext>
            </a:extLst>
          </p:cNvPr>
          <p:cNvSpPr/>
          <p:nvPr/>
        </p:nvSpPr>
        <p:spPr>
          <a:xfrm>
            <a:off x="4259943" y="3925044"/>
            <a:ext cx="579120" cy="50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D74E690-ADED-0463-2614-7869FA1E6E04}"/>
              </a:ext>
            </a:extLst>
          </p:cNvPr>
          <p:cNvSpPr/>
          <p:nvPr/>
        </p:nvSpPr>
        <p:spPr>
          <a:xfrm>
            <a:off x="5442228" y="3897162"/>
            <a:ext cx="579120" cy="50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C24F99-CD2D-B9C6-C07F-7B5AC2947877}"/>
              </a:ext>
            </a:extLst>
          </p:cNvPr>
          <p:cNvCxnSpPr>
            <a:stCxn id="10" idx="5"/>
          </p:cNvCxnSpPr>
          <p:nvPr/>
        </p:nvCxnSpPr>
        <p:spPr>
          <a:xfrm>
            <a:off x="5936538" y="4330767"/>
            <a:ext cx="3193771" cy="87703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5A185E-DA42-22BD-B15D-966F9F04236E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4754253" y="4358649"/>
            <a:ext cx="4179290" cy="85671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C07B15-F267-B0BF-1489-551D18F2B0EF}"/>
              </a:ext>
            </a:extLst>
          </p:cNvPr>
          <p:cNvSpPr txBox="1"/>
          <p:nvPr/>
        </p:nvSpPr>
        <p:spPr>
          <a:xfrm>
            <a:off x="7754257" y="4629536"/>
            <a:ext cx="1085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Posedge?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22810-B587-0192-67C9-98E915C50405}"/>
              </a:ext>
            </a:extLst>
          </p:cNvPr>
          <p:cNvSpPr txBox="1"/>
          <p:nvPr/>
        </p:nvSpPr>
        <p:spPr>
          <a:xfrm>
            <a:off x="3048000" y="32552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/>
              <a:t>2. </a:t>
            </a:r>
            <a:r>
              <a:rPr lang="en-US" sz="1800" dirty="0"/>
              <a:t>Classical Model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57AEE-7B5F-5268-6128-775FECB0EDB8}"/>
              </a:ext>
            </a:extLst>
          </p:cNvPr>
          <p:cNvSpPr txBox="1"/>
          <p:nvPr/>
        </p:nvSpPr>
        <p:spPr>
          <a:xfrm>
            <a:off x="190864" y="151406"/>
            <a:ext cx="835442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3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3300" b="1" dirty="0">
                <a:latin typeface="Arial" panose="020B0604020202020204" pitchFamily="34" charset="0"/>
                <a:cs typeface="Arial" panose="020B0604020202020204" pitchFamily="34" charset="0"/>
              </a:rPr>
              <a:t>Prior Work and Limitations</a:t>
            </a:r>
          </a:p>
        </p:txBody>
      </p:sp>
    </p:spTree>
    <p:extLst>
      <p:ext uri="{BB962C8B-B14F-4D97-AF65-F5344CB8AC3E}">
        <p14:creationId xmlns:p14="http://schemas.microsoft.com/office/powerpoint/2010/main" val="508005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C659-FB26-F63C-4323-583BA44F9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i="1" dirty="0"/>
              <a:t>Timer-based model: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EA594-6F6B-C7DD-E6C5-2F0EFCD1C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047" y="963649"/>
            <a:ext cx="6553270" cy="413051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AD6AFB1-A6DC-B449-102C-39A6C9E4D377}"/>
              </a:ext>
            </a:extLst>
          </p:cNvPr>
          <p:cNvSpPr/>
          <p:nvPr/>
        </p:nvSpPr>
        <p:spPr>
          <a:xfrm>
            <a:off x="5707766" y="2055606"/>
            <a:ext cx="446315" cy="23948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FBF753-5478-80D8-C6A2-A876BFA733A6}"/>
              </a:ext>
            </a:extLst>
          </p:cNvPr>
          <p:cNvSpPr/>
          <p:nvPr/>
        </p:nvSpPr>
        <p:spPr>
          <a:xfrm>
            <a:off x="6484235" y="2055606"/>
            <a:ext cx="446315" cy="23948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2AFF642-65FA-E206-026D-03819FCB722F}"/>
              </a:ext>
            </a:extLst>
          </p:cNvPr>
          <p:cNvSpPr/>
          <p:nvPr/>
        </p:nvSpPr>
        <p:spPr>
          <a:xfrm>
            <a:off x="5707766" y="3705781"/>
            <a:ext cx="446315" cy="23948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97EBC24-D1ED-D285-20B2-677F84D4E709}"/>
              </a:ext>
            </a:extLst>
          </p:cNvPr>
          <p:cNvSpPr/>
          <p:nvPr/>
        </p:nvSpPr>
        <p:spPr>
          <a:xfrm>
            <a:off x="6484235" y="3641746"/>
            <a:ext cx="446315" cy="23948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656C9B-45FF-47DB-EC89-488FCA38B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10498"/>
            <a:ext cx="12192000" cy="117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1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28B20-D893-C3FC-1CC5-A61DD625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3. Design Objectives</a:t>
            </a:r>
            <a:br>
              <a:rPr lang="en-US" sz="3600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E83D77-312C-99B7-5F92-748F3DE50064}"/>
              </a:ext>
            </a:extLst>
          </p:cNvPr>
          <p:cNvSpPr txBox="1"/>
          <p:nvPr/>
        </p:nvSpPr>
        <p:spPr>
          <a:xfrm>
            <a:off x="324528" y="965506"/>
            <a:ext cx="1186747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Glitch-free switching </a:t>
            </a:r>
            <a:endParaRPr kumimoji="0" lang="vi-VN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Deadlock-free operation under clock failure </a:t>
            </a:r>
            <a:endParaRPr kumimoji="0" lang="vi-VN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Autonomous failover and safe recovery </a:t>
            </a:r>
            <a:endParaRPr kumimoji="0" lang="vi-VN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 operation under </a:t>
            </a: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dual-clock failure scenarios </a:t>
            </a:r>
            <a:endParaRPr kumimoji="0" lang="vi-VN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external reference clock required </a:t>
            </a:r>
            <a:endParaRPr kumimoji="0" lang="vi-VN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 CDC across clock domains </a:t>
            </a:r>
          </a:p>
        </p:txBody>
      </p:sp>
    </p:spTree>
    <p:extLst>
      <p:ext uri="{BB962C8B-B14F-4D97-AF65-F5344CB8AC3E}">
        <p14:creationId xmlns:p14="http://schemas.microsoft.com/office/powerpoint/2010/main" val="4200726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20093-BAF2-CDD6-BF27-E5A468326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780469"/>
            <a:ext cx="8061101" cy="553289"/>
          </a:xfrm>
        </p:spPr>
        <p:txBody>
          <a:bodyPr>
            <a:normAutofit/>
          </a:bodyPr>
          <a:lstStyle/>
          <a:p>
            <a:r>
              <a:rPr lang="en-US" sz="3000" i="1" dirty="0"/>
              <a:t>Proposed-block diagram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A33C3-E47C-AB6E-E214-3169D245DD01}"/>
              </a:ext>
            </a:extLst>
          </p:cNvPr>
          <p:cNvSpPr txBox="1"/>
          <p:nvPr/>
        </p:nvSpPr>
        <p:spPr>
          <a:xfrm>
            <a:off x="370114" y="271929"/>
            <a:ext cx="730431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3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3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300" b="1" dirty="0"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</a:p>
          <a:p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637F44-3181-6A0A-BFD3-72DC9E13A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606" y="1198711"/>
            <a:ext cx="3078788" cy="516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09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7BEE-04C6-0921-C726-EC007A5F7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 err="1"/>
              <a:t>Layer</a:t>
            </a:r>
            <a:r>
              <a:rPr lang="vi-VN" dirty="0"/>
              <a:t> 1: </a:t>
            </a:r>
            <a:r>
              <a:rPr lang="vi-VN" dirty="0" err="1"/>
              <a:t>Activity</a:t>
            </a:r>
            <a:r>
              <a:rPr lang="vi-VN" dirty="0"/>
              <a:t> </a:t>
            </a:r>
            <a:r>
              <a:rPr lang="vi-VN" dirty="0" err="1"/>
              <a:t>Sensor</a:t>
            </a:r>
            <a:r>
              <a:rPr lang="vi-VN" dirty="0"/>
              <a:t> </a:t>
            </a:r>
            <a:br>
              <a:rPr lang="vi-VN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D7529F-EAC6-FEE9-11B0-A29CB1CEE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889" y="837838"/>
            <a:ext cx="7316221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25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8E641-496D-DBF1-0F32-F9D6378B1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 err="1"/>
              <a:t>Layer</a:t>
            </a:r>
            <a:r>
              <a:rPr lang="vi-VN" dirty="0"/>
              <a:t> 2: </a:t>
            </a:r>
            <a:r>
              <a:rPr lang="vi-VN" dirty="0" err="1"/>
              <a:t>Decision</a:t>
            </a:r>
            <a:r>
              <a:rPr lang="vi-VN" dirty="0"/>
              <a:t> </a:t>
            </a:r>
            <a:r>
              <a:rPr lang="vi-VN" dirty="0" err="1"/>
              <a:t>Making</a:t>
            </a:r>
            <a:br>
              <a:rPr lang="vi-VN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4483AC-5AD1-BD85-2E3D-BFC577D50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211" y="874983"/>
            <a:ext cx="7639617" cy="542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999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1B9A-2B7C-DFA3-5F04-784FE4BD8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 err="1"/>
              <a:t>Layer</a:t>
            </a:r>
            <a:r>
              <a:rPr lang="vi-VN" dirty="0"/>
              <a:t> 3: </a:t>
            </a:r>
            <a:r>
              <a:rPr lang="vi-VN" dirty="0" err="1"/>
              <a:t>Safe</a:t>
            </a:r>
            <a:r>
              <a:rPr lang="vi-VN" dirty="0"/>
              <a:t> </a:t>
            </a:r>
            <a:r>
              <a:rPr lang="vi-VN" dirty="0" err="1"/>
              <a:t>Handover</a:t>
            </a:r>
            <a:br>
              <a:rPr lang="vi-VN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78F97B-72EE-2AFC-3F4B-CCA3C7E5E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81" y="857466"/>
            <a:ext cx="10969562" cy="533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05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3017-DA96-1EC2-572A-F1538EF1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Proposed-scheme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9DBEBC-E351-8D0F-6948-E11F6D884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724" y="851273"/>
            <a:ext cx="8687447" cy="565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86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0152-69F0-D2D8-E993-3B759CB0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5. </a:t>
            </a:r>
            <a:r>
              <a:rPr lang="en-US" dirty="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894227-FA0A-414B-4A5A-43AC80444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8969"/>
            <a:ext cx="12192000" cy="14667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DAF841-9A9C-6302-12BD-0AE1B392E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2722"/>
            <a:ext cx="12192000" cy="118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34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93CF6-5BE5-A30B-8033-E68EEFDC8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5" y="814989"/>
            <a:ext cx="12063415" cy="923403"/>
          </a:xfrm>
        </p:spPr>
        <p:txBody>
          <a:bodyPr>
            <a:noAutofit/>
          </a:bodyPr>
          <a:lstStyle/>
          <a:p>
            <a:r>
              <a:rPr lang="vi-VN" sz="2800" b="0" dirty="0" err="1">
                <a:solidFill>
                  <a:schemeClr val="tx1"/>
                </a:solidFill>
              </a:rPr>
              <a:t>Table</a:t>
            </a:r>
            <a:r>
              <a:rPr lang="vi-VN" sz="2800" b="0" dirty="0">
                <a:solidFill>
                  <a:schemeClr val="tx1"/>
                </a:solidFill>
              </a:rPr>
              <a:t>: </a:t>
            </a:r>
            <a:r>
              <a:rPr lang="en-US" sz="2800" b="0" dirty="0">
                <a:solidFill>
                  <a:schemeClr val="tx1"/>
                </a:solidFill>
              </a:rPr>
              <a:t>Feature and Implementation Comparison for Various Clock Multiplexer Designs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DDD39D-9491-C5D7-6BA8-5B881A6B0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8392"/>
            <a:ext cx="12192000" cy="277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47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A2215-84EA-C3A1-14AD-7BBD6375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Validation and Publication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4BD66F-15CB-EAD1-49B1-954BB293E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74" y="1164772"/>
            <a:ext cx="10616852" cy="2650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B10D04-E022-6631-AA7C-473ED0881284}"/>
              </a:ext>
            </a:extLst>
          </p:cNvPr>
          <p:cNvSpPr txBox="1"/>
          <p:nvPr/>
        </p:nvSpPr>
        <p:spPr>
          <a:xfrm>
            <a:off x="228601" y="4037150"/>
            <a:ext cx="117021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This work has been written as a full scientific paper and submitted to the 2nd IEEE International Conference on Information,</a:t>
            </a:r>
            <a:endParaRPr lang="vi-VN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Implementation and Innovation in Technology 2026 </a:t>
            </a:r>
          </a:p>
        </p:txBody>
      </p:sp>
    </p:spTree>
    <p:extLst>
      <p:ext uri="{BB962C8B-B14F-4D97-AF65-F5344CB8AC3E}">
        <p14:creationId xmlns:p14="http://schemas.microsoft.com/office/powerpoint/2010/main" val="1502631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87CED-8D01-F288-16E8-CDDCDF81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449" y="2527368"/>
            <a:ext cx="8061101" cy="553289"/>
          </a:xfrm>
        </p:spPr>
        <p:txBody>
          <a:bodyPr/>
          <a:lstStyle/>
          <a:p>
            <a:pPr algn="ctr"/>
            <a:r>
              <a:rPr lang="en-US" dirty="0"/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592869896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(1)</Template>
  <TotalTime>41</TotalTime>
  <Words>340</Words>
  <Application>Microsoft Office PowerPoint</Application>
  <PresentationFormat>Widescreen</PresentationFormat>
  <Paragraphs>69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Times New Roman</vt:lpstr>
      <vt:lpstr>UTM Avo</vt:lpstr>
      <vt:lpstr>Wingdings</vt:lpstr>
      <vt:lpstr>Vicostone Template</vt:lpstr>
      <vt:lpstr>PowerPoint Presentation</vt:lpstr>
      <vt:lpstr>Introduction</vt:lpstr>
      <vt:lpstr>Contents</vt:lpstr>
      <vt:lpstr>1.Problems:</vt:lpstr>
      <vt:lpstr>PowerPoint Presentation</vt:lpstr>
      <vt:lpstr>Deadclock</vt:lpstr>
      <vt:lpstr>Break-before-make model:</vt:lpstr>
      <vt:lpstr>Timer-based model:</vt:lpstr>
      <vt:lpstr>3. Design Objectives </vt:lpstr>
      <vt:lpstr>Proposed-block diagram</vt:lpstr>
      <vt:lpstr>Layer 1: Activity Sensor  </vt:lpstr>
      <vt:lpstr>Layer 2: Decision Making </vt:lpstr>
      <vt:lpstr>Layer 3: Safe Handover </vt:lpstr>
      <vt:lpstr>Proposed-scheme</vt:lpstr>
      <vt:lpstr>5. Results</vt:lpstr>
      <vt:lpstr>Table: Feature and Implementation Comparison for Various Clock Multiplexer Designs</vt:lpstr>
      <vt:lpstr>Academic Validation and Publication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 Thi Phuong</dc:creator>
  <cp:lastModifiedBy>Vu Thi Phuong</cp:lastModifiedBy>
  <cp:revision>2</cp:revision>
  <dcterms:created xsi:type="dcterms:W3CDTF">2026-04-16T15:19:49Z</dcterms:created>
  <dcterms:modified xsi:type="dcterms:W3CDTF">2026-04-16T16:02:33Z</dcterms:modified>
</cp:coreProperties>
</file>