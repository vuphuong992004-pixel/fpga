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9"/>
  </p:notesMasterIdLst>
  <p:sldIdLst>
    <p:sldId id="256" r:id="rId2"/>
    <p:sldId id="275" r:id="rId3"/>
    <p:sldId id="283" r:id="rId4"/>
    <p:sldId id="262" r:id="rId5"/>
    <p:sldId id="267" r:id="rId6"/>
    <p:sldId id="287" r:id="rId7"/>
    <p:sldId id="273" r:id="rId8"/>
    <p:sldId id="285" r:id="rId9"/>
    <p:sldId id="274" r:id="rId10"/>
    <p:sldId id="276" r:id="rId11"/>
    <p:sldId id="277" r:id="rId12"/>
    <p:sldId id="278" r:id="rId13"/>
    <p:sldId id="279" r:id="rId14"/>
    <p:sldId id="284" r:id="rId15"/>
    <p:sldId id="280" r:id="rId16"/>
    <p:sldId id="288" r:id="rId17"/>
    <p:sldId id="289" r:id="rId18"/>
    <p:sldId id="294" r:id="rId19"/>
    <p:sldId id="281" r:id="rId20"/>
    <p:sldId id="282" r:id="rId21"/>
    <p:sldId id="269" r:id="rId22"/>
    <p:sldId id="271" r:id="rId23"/>
    <p:sldId id="272" r:id="rId24"/>
    <p:sldId id="291" r:id="rId25"/>
    <p:sldId id="263" r:id="rId26"/>
    <p:sldId id="292" r:id="rId27"/>
    <p:sldId id="29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660"/>
  </p:normalViewPr>
  <p:slideViewPr>
    <p:cSldViewPr snapToGrid="0">
      <p:cViewPr>
        <p:scale>
          <a:sx n="38" d="100"/>
          <a:sy n="38" d="100"/>
        </p:scale>
        <p:origin x="91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25859-0BD2-423E-9D27-CBDE27F8BBA2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8BD86-BE97-4EB8-A633-B3AAB59E9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5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Glitch (unsynchronized)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metastability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24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A8B9-6864-83FE-BD95-CCC22F1A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D9FC4-2410-8342-19F6-5AC2501BB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FADEA-9B09-8277-6CAE-915C6DDFC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Prob: unsynchronize (purely combinational logic) -&gt; adding flipflops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00C5-036B-8C0B-BB7C-243B7349C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29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7FEB-323D-1D00-207F-2D5E6CDE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E1346-0D08-F61C-DBE5-594058E01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9C3BE-F67C-A95E-DFBC-CA483B35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Glitch (unsynchronized)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30FE6-758A-F6E9-0DCA-648E917CD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0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Layer 1: die or live</a:t>
            </a:r>
          </a:p>
          <a:p>
            <a:r>
              <a:rPr lang="en-US"/>
              <a:t>Layer 2: sync with sel (if selected clock died, other lives) </a:t>
            </a:r>
            <a:r>
              <a:rPr lang="en-US">
                <a:sym typeface="Wingdings" panose="05000000000000000000" pitchFamily="2" charset="2"/>
              </a:rPr>
              <a:t> others. And normal, normal</a:t>
            </a:r>
          </a:p>
          <a:p>
            <a:r>
              <a:rPr lang="en-US">
                <a:sym typeface="Wingdings" panose="05000000000000000000" pitchFamily="2" charset="2"/>
              </a:rPr>
              <a:t>Layer 3: synchronize and break before make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8BD86-BE97-4EB8-A633-B3AAB59E95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2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872110" y="-2030424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2110" y="-782219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7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593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10405835" y="6593718"/>
            <a:ext cx="1653425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78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9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9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6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324528" y="22716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CHỦ ĐỀ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6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FED9-1C4B-A81C-DFF9-9CC823E0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95846-F504-817A-5B05-859EB66B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69FA-4921-455C-A446-155C3AA14D9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FE5FC-A031-00B7-B112-281AC6E3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D7249-9872-341B-6C70-8C573BE7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B98F-50EC-4AA1-843A-31FB3BF891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76A3-281D-4676-55ED-A8F4AE8C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82784-A84F-1357-7811-038F1ACE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7944F-5D3C-4716-9B33-D640E0A38C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95497-4EF5-75CC-87B8-911932BF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E0224-07FA-FC70-DBF9-3C1C9EB2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1F6D6-36B2-4A11-AC4D-FE44001A9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5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F4D4A-FD71-41E6-BED5-CF551BFDBC3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5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54E1C-1899-BBBF-CB31-818CA53B10BD}"/>
              </a:ext>
            </a:extLst>
          </p:cNvPr>
          <p:cNvSpPr txBox="1"/>
          <p:nvPr/>
        </p:nvSpPr>
        <p:spPr>
          <a:xfrm>
            <a:off x="262443" y="3580201"/>
            <a:ext cx="11929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Glitch-Free Clock Multiplexer with Symmetric Failover: Design and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46118-7D6C-379C-FFF7-1F5223319B5A}"/>
              </a:ext>
            </a:extLst>
          </p:cNvPr>
          <p:cNvSpPr txBox="1"/>
          <p:nvPr/>
        </p:nvSpPr>
        <p:spPr>
          <a:xfrm>
            <a:off x="3958780" y="4842085"/>
            <a:ext cx="42744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PhD. Thuan Van 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ED94F-E1AC-B40D-AFDB-931C64AEC200}"/>
              </a:ext>
            </a:extLst>
          </p:cNvPr>
          <p:cNvSpPr txBox="1"/>
          <p:nvPr/>
        </p:nvSpPr>
        <p:spPr>
          <a:xfrm>
            <a:off x="3993866" y="5396083"/>
            <a:ext cx="434022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1: Hai Minh Truong</a:t>
            </a:r>
          </a:p>
          <a:p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 2: </a:t>
            </a:r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Phuong Thi Vu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60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8C7A-EE9A-07BD-C5E5-D8B018C3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30" y="227160"/>
            <a:ext cx="8061101" cy="55328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44DCCF-8DFE-51B1-085F-E00A52DCAD43}"/>
              </a:ext>
            </a:extLst>
          </p:cNvPr>
          <p:cNvSpPr txBox="1">
            <a:spLocks/>
          </p:cNvSpPr>
          <p:nvPr/>
        </p:nvSpPr>
        <p:spPr>
          <a:xfrm>
            <a:off x="254630" y="780449"/>
            <a:ext cx="11682740" cy="52353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476A901-4D94-FEBF-071C-8F4E211FD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80449"/>
            <a:ext cx="1186117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Arial" panose="020B0604020202020204" pitchFamily="34" charset="0"/>
              </a:rPr>
              <a:t>Clock switching in multi-clock SoC/FPGA systems is a critical challenge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designs suffer from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metastability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deadlock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clock failure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cannot simultaneously guarantee glitch-free, deadlock-free, and autonomous failover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work proposes a novel GFCM architecture enabling safe switching and reliable recovery without external reference clock</a:t>
            </a:r>
          </a:p>
        </p:txBody>
      </p:sp>
    </p:spTree>
    <p:extLst>
      <p:ext uri="{BB962C8B-B14F-4D97-AF65-F5344CB8AC3E}">
        <p14:creationId xmlns:p14="http://schemas.microsoft.com/office/powerpoint/2010/main" val="81176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1BB2-BB90-E6F3-C546-75E5EF74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Contents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E9120-B7BB-3F22-F511-C01A11F7CDF3}"/>
              </a:ext>
            </a:extLst>
          </p:cNvPr>
          <p:cNvSpPr txBox="1"/>
          <p:nvPr/>
        </p:nvSpPr>
        <p:spPr>
          <a:xfrm>
            <a:off x="324528" y="1012954"/>
            <a:ext cx="115429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Classical Model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Prior Work and Limitations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Design Objectives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6663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921B-93BD-1679-B557-B781FD64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</a:t>
            </a:r>
            <a:r>
              <a:rPr lang="en-US" dirty="0"/>
              <a:t>Problems: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5C4E7-020D-722A-23A8-A1365758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7664B4-F8E1-5F7F-1F6B-B277CA7AC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93840"/>
            <a:ext cx="12192000" cy="101812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DA1D369-F6D2-5626-6A75-15CCE53A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41890"/>
            <a:ext cx="1219200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 unwanted short pulse at the output caused by unsynchronized switching between signals or clocks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99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0F03-E2E7-E7CF-3CD3-29B107A1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B732C-C12F-4C3F-812C-858C8D06027D}"/>
              </a:ext>
            </a:extLst>
          </p:cNvPr>
          <p:cNvSpPr txBox="1"/>
          <p:nvPr/>
        </p:nvSpPr>
        <p:spPr>
          <a:xfrm>
            <a:off x="313642" y="629348"/>
            <a:ext cx="6851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Metastabilities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between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 clock domain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(2flipflop to solve)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C7D41C-FAF9-CF70-6EEB-35899145D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5081" y="1125709"/>
            <a:ext cx="6179278" cy="4740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183E5F-7B38-EA7A-2AFE-E3CD467967E8}"/>
              </a:ext>
            </a:extLst>
          </p:cNvPr>
          <p:cNvSpPr txBox="1"/>
          <p:nvPr/>
        </p:nvSpPr>
        <p:spPr>
          <a:xfrm>
            <a:off x="853440" y="4163784"/>
            <a:ext cx="169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Probs (H or L ?)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D0570B-6584-EFB6-0CA2-C4E0891AC3A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50160" y="4348450"/>
            <a:ext cx="1960880" cy="33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8F13D0-9426-9296-3FBB-B18D231CEF61}"/>
              </a:ext>
            </a:extLst>
          </p:cNvPr>
          <p:cNvSpPr txBox="1"/>
          <p:nvPr/>
        </p:nvSpPr>
        <p:spPr>
          <a:xfrm>
            <a:off x="9641840" y="4601091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3FE40-AF3D-34BF-A2AA-2720CABDE7B0}"/>
              </a:ext>
            </a:extLst>
          </p:cNvPr>
          <p:cNvCxnSpPr>
            <a:cxnSpLocks/>
          </p:cNvCxnSpPr>
          <p:nvPr/>
        </p:nvCxnSpPr>
        <p:spPr>
          <a:xfrm flipH="1" flipV="1">
            <a:off x="7172962" y="2331159"/>
            <a:ext cx="2489200" cy="24545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320376-E818-D4E1-D1EA-471D53FE9EDF}"/>
              </a:ext>
            </a:extLst>
          </p:cNvPr>
          <p:cNvSpPr txBox="1"/>
          <p:nvPr/>
        </p:nvSpPr>
        <p:spPr>
          <a:xfrm>
            <a:off x="771054" y="2782041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92AE61-95A4-5374-1714-2E87E85CD502}"/>
              </a:ext>
            </a:extLst>
          </p:cNvPr>
          <p:cNvCxnSpPr>
            <a:stCxn id="14" idx="3"/>
          </p:cNvCxnSpPr>
          <p:nvPr/>
        </p:nvCxnSpPr>
        <p:spPr>
          <a:xfrm flipV="1">
            <a:off x="2212474" y="2595867"/>
            <a:ext cx="105469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0CE085-9E4B-A348-0CE8-8F0EACCC8F4E}"/>
              </a:ext>
            </a:extLst>
          </p:cNvPr>
          <p:cNvCxnSpPr>
            <a:stCxn id="14" idx="3"/>
          </p:cNvCxnSpPr>
          <p:nvPr/>
        </p:nvCxnSpPr>
        <p:spPr>
          <a:xfrm flipV="1">
            <a:off x="2212474" y="2595867"/>
            <a:ext cx="3046052" cy="370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A77751B-543E-34D8-DD27-EEE17922D910}"/>
              </a:ext>
            </a:extLst>
          </p:cNvPr>
          <p:cNvSpPr/>
          <p:nvPr/>
        </p:nvSpPr>
        <p:spPr>
          <a:xfrm>
            <a:off x="5473836" y="1125709"/>
            <a:ext cx="2721429" cy="1656332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52F54-40D2-4943-1A1D-0EADD2187009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>
            <a:off x="1491764" y="3151373"/>
            <a:ext cx="210036" cy="1012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47747C-E1CB-2EB6-6286-6F7DE6485C0E}"/>
              </a:ext>
            </a:extLst>
          </p:cNvPr>
          <p:cNvSpPr txBox="1"/>
          <p:nvPr/>
        </p:nvSpPr>
        <p:spPr>
          <a:xfrm>
            <a:off x="358140" y="5914859"/>
            <a:ext cx="8305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Indeterminate state caused by asynchronous sampling near clock edge</a:t>
            </a:r>
          </a:p>
        </p:txBody>
      </p:sp>
    </p:spTree>
    <p:extLst>
      <p:ext uri="{BB962C8B-B14F-4D97-AF65-F5344CB8AC3E}">
        <p14:creationId xmlns:p14="http://schemas.microsoft.com/office/powerpoint/2010/main" val="156957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D6C2-D50B-4DE7-B7D5-ADF60190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26C8-2C32-B931-3B83-3ED090C6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Deadclock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26222-96AA-AC77-E11B-AD32F2B61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655"/>
            <a:ext cx="12192000" cy="12167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45917A8-A968-6887-0E5F-F69487EC67D1}"/>
              </a:ext>
            </a:extLst>
          </p:cNvPr>
          <p:cNvSpPr/>
          <p:nvPr/>
        </p:nvSpPr>
        <p:spPr>
          <a:xfrm>
            <a:off x="8164286" y="1774371"/>
            <a:ext cx="3690257" cy="6618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501FBE-2361-E6FD-AEB9-055E81FBA8FE}"/>
              </a:ext>
            </a:extLst>
          </p:cNvPr>
          <p:cNvCxnSpPr/>
          <p:nvPr/>
        </p:nvCxnSpPr>
        <p:spPr>
          <a:xfrm>
            <a:off x="9628414" y="2436205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E460C5-2AD2-5BF0-84F9-6BD5AF8DB0C4}"/>
              </a:ext>
            </a:extLst>
          </p:cNvPr>
          <p:cNvSpPr txBox="1"/>
          <p:nvPr/>
        </p:nvSpPr>
        <p:spPr>
          <a:xfrm>
            <a:off x="10390414" y="2806405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Deadclock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7AEB4-D63F-594F-2FB4-72392561DF0F}"/>
              </a:ext>
            </a:extLst>
          </p:cNvPr>
          <p:cNvSpPr txBox="1"/>
          <p:nvPr/>
        </p:nvSpPr>
        <p:spPr>
          <a:xfrm>
            <a:off x="0" y="321003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system enters a deadlock condition, resulting in the output clock being stuck at a constant logic level (no toggling)</a:t>
            </a:r>
          </a:p>
        </p:txBody>
      </p:sp>
    </p:spTree>
    <p:extLst>
      <p:ext uri="{BB962C8B-B14F-4D97-AF65-F5344CB8AC3E}">
        <p14:creationId xmlns:p14="http://schemas.microsoft.com/office/powerpoint/2010/main" val="423576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4226-2F01-2265-6F82-F7C8C0F2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AD67-7AFF-6697-49E3-A15A4300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problem: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E48CA-6201-F662-8DFA-DE2A52FE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4" y="1085249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3F3D89-97F1-F29B-27A5-13A5AA374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93840"/>
            <a:ext cx="12192000" cy="101812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5A84E0F-F343-E422-C259-4007B2599091}"/>
              </a:ext>
            </a:extLst>
          </p:cNvPr>
          <p:cNvSpPr/>
          <p:nvPr/>
        </p:nvSpPr>
        <p:spPr>
          <a:xfrm>
            <a:off x="3982720" y="986312"/>
            <a:ext cx="1910080" cy="29889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4ACF2B-AC7D-9F0C-ED5E-9E1E54897D8B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5613075" y="3537507"/>
            <a:ext cx="1183965" cy="14408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9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2474-47CE-4A06-481E-79536A81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Deadclock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DB576B-56AF-FC65-AC0E-8C6EED1F6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655"/>
            <a:ext cx="12192000" cy="12167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293096B-D796-1EDC-25A4-C38C7100BECB}"/>
              </a:ext>
            </a:extLst>
          </p:cNvPr>
          <p:cNvSpPr/>
          <p:nvPr/>
        </p:nvSpPr>
        <p:spPr>
          <a:xfrm>
            <a:off x="8164286" y="1774371"/>
            <a:ext cx="3690257" cy="66183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BCA949-8782-B298-2AC1-AB8AB0F9422E}"/>
              </a:ext>
            </a:extLst>
          </p:cNvPr>
          <p:cNvCxnSpPr/>
          <p:nvPr/>
        </p:nvCxnSpPr>
        <p:spPr>
          <a:xfrm>
            <a:off x="9628414" y="2436205"/>
            <a:ext cx="762000" cy="533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70E918-74AC-B7EA-7E81-65718BF58E2E}"/>
              </a:ext>
            </a:extLst>
          </p:cNvPr>
          <p:cNvSpPr txBox="1"/>
          <p:nvPr/>
        </p:nvSpPr>
        <p:spPr>
          <a:xfrm>
            <a:off x="10390414" y="2806405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Deadclock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C9C5E-5FB2-6B52-193E-EC9B6A4789E0}"/>
              </a:ext>
            </a:extLst>
          </p:cNvPr>
          <p:cNvSpPr txBox="1"/>
          <p:nvPr/>
        </p:nvSpPr>
        <p:spPr>
          <a:xfrm>
            <a:off x="0" y="321003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system enters a deadlock condition, resulting in the output clock being stuck at a constant logic level (no toggling)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008F38-8BF9-D514-5216-EA482B6224F1}"/>
              </a:ext>
            </a:extLst>
          </p:cNvPr>
          <p:cNvSpPr/>
          <p:nvPr/>
        </p:nvSpPr>
        <p:spPr>
          <a:xfrm>
            <a:off x="8164286" y="892629"/>
            <a:ext cx="4201885" cy="34834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4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54E1-224D-0E06-BF8A-CF119C82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B86B-4D60-580F-E252-3BC44DD7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sz="3600" dirty="0"/>
              <a:t>2. </a:t>
            </a:r>
            <a:r>
              <a:rPr lang="en-US" sz="3600" dirty="0"/>
              <a:t>Classical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0685C-43CD-8025-55CC-8CE6B3128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13" y="1113092"/>
            <a:ext cx="7002971" cy="2791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230C71-A08E-6AAE-963D-36290109C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83680"/>
            <a:ext cx="12192000" cy="10181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7901EE-69BA-025C-F91E-1BEC6483B189}"/>
              </a:ext>
            </a:extLst>
          </p:cNvPr>
          <p:cNvSpPr txBox="1"/>
          <p:nvPr/>
        </p:nvSpPr>
        <p:spPr>
          <a:xfrm>
            <a:off x="324528" y="73354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Trad</a:t>
            </a:r>
            <a:r>
              <a:rPr lang="vi-VN" sz="3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vi-VN" sz="3000" b="1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3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3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E1BB-922A-7A4F-5A7E-FF687473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72" y="666802"/>
            <a:ext cx="8061101" cy="553289"/>
          </a:xfrm>
        </p:spPr>
        <p:txBody>
          <a:bodyPr>
            <a:normAutofit/>
          </a:bodyPr>
          <a:lstStyle/>
          <a:p>
            <a:r>
              <a:rPr lang="en-US" sz="3000" i="1" dirty="0"/>
              <a:t>Break-before-make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682DE-5F10-C0BE-C904-FD7AF7171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8700"/>
            <a:ext cx="12192000" cy="1216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5EC62D-3F32-9C34-720F-BF7AE1D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68" y="1260508"/>
            <a:ext cx="7841863" cy="37383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96953A4-BB44-4141-8AE0-24AF81A5B6CB}"/>
              </a:ext>
            </a:extLst>
          </p:cNvPr>
          <p:cNvSpPr/>
          <p:nvPr/>
        </p:nvSpPr>
        <p:spPr>
          <a:xfrm>
            <a:off x="4259943" y="1709028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A23377-EF6C-75A2-B075-2BD14A3CE562}"/>
              </a:ext>
            </a:extLst>
          </p:cNvPr>
          <p:cNvSpPr/>
          <p:nvPr/>
        </p:nvSpPr>
        <p:spPr>
          <a:xfrm>
            <a:off x="5441599" y="1709028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528466-0C04-BB92-E720-4EB23C1A9979}"/>
              </a:ext>
            </a:extLst>
          </p:cNvPr>
          <p:cNvSpPr/>
          <p:nvPr/>
        </p:nvSpPr>
        <p:spPr>
          <a:xfrm>
            <a:off x="4259943" y="3925044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74E690-ADED-0463-2614-7869FA1E6E04}"/>
              </a:ext>
            </a:extLst>
          </p:cNvPr>
          <p:cNvSpPr/>
          <p:nvPr/>
        </p:nvSpPr>
        <p:spPr>
          <a:xfrm>
            <a:off x="5442228" y="3897162"/>
            <a:ext cx="579120" cy="50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C24F99-CD2D-B9C6-C07F-7B5AC2947877}"/>
              </a:ext>
            </a:extLst>
          </p:cNvPr>
          <p:cNvCxnSpPr>
            <a:stCxn id="10" idx="5"/>
          </p:cNvCxnSpPr>
          <p:nvPr/>
        </p:nvCxnSpPr>
        <p:spPr>
          <a:xfrm>
            <a:off x="5936538" y="4330767"/>
            <a:ext cx="3193771" cy="87703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5A185E-DA42-22BD-B15D-966F9F04236E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4754253" y="4358649"/>
            <a:ext cx="4179290" cy="8567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C07B15-F267-B0BF-1489-551D18F2B0EF}"/>
              </a:ext>
            </a:extLst>
          </p:cNvPr>
          <p:cNvSpPr txBox="1"/>
          <p:nvPr/>
        </p:nvSpPr>
        <p:spPr>
          <a:xfrm>
            <a:off x="7754257" y="4629536"/>
            <a:ext cx="108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Posedge?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22810-B587-0192-67C9-98E915C50405}"/>
              </a:ext>
            </a:extLst>
          </p:cNvPr>
          <p:cNvSpPr txBox="1"/>
          <p:nvPr/>
        </p:nvSpPr>
        <p:spPr>
          <a:xfrm>
            <a:off x="3048000" y="3255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/>
              <a:t>2. </a:t>
            </a:r>
            <a:r>
              <a:rPr lang="en-US" sz="1800" dirty="0"/>
              <a:t>Classical Model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57AEE-7B5F-5268-6128-775FECB0EDB8}"/>
              </a:ext>
            </a:extLst>
          </p:cNvPr>
          <p:cNvSpPr txBox="1"/>
          <p:nvPr/>
        </p:nvSpPr>
        <p:spPr>
          <a:xfrm>
            <a:off x="190864" y="151406"/>
            <a:ext cx="83544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3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Prior Work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50800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1880-1F89-E8AF-C24B-226CC483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i="1" dirty="0"/>
              <a:t>Break-before-make</a:t>
            </a:r>
            <a:r>
              <a:rPr lang="en-US" sz="3000" dirty="0"/>
              <a:t> </a:t>
            </a:r>
            <a:r>
              <a:rPr lang="en-US" sz="3000" i="1" dirty="0"/>
              <a:t>model: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1BDA8-5F77-1146-10B2-886AF470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083973"/>
            <a:ext cx="8592749" cy="4096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F5207-9BF4-A9BE-A90C-F7784295327E}"/>
              </a:ext>
            </a:extLst>
          </p:cNvPr>
          <p:cNvSpPr txBox="1"/>
          <p:nvPr/>
        </p:nvSpPr>
        <p:spPr>
          <a:xfrm>
            <a:off x="568960" y="4612640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Solutions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891631-F942-CBEB-4D46-C8345E8B575E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4592320"/>
            <a:ext cx="3176272" cy="2049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42B24F-BCB5-C8EC-D605-4B628E0B798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619248" y="4612640"/>
            <a:ext cx="4476752" cy="1846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631D4F-86F6-45A6-2153-CF93883196F8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1869440"/>
            <a:ext cx="3155952" cy="29278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72D0C7-9C01-D0C7-9960-6F4E52C61A42}"/>
              </a:ext>
            </a:extLst>
          </p:cNvPr>
          <p:cNvCxnSpPr>
            <a:stCxn id="4" idx="3"/>
          </p:cNvCxnSpPr>
          <p:nvPr/>
        </p:nvCxnSpPr>
        <p:spPr>
          <a:xfrm flipV="1">
            <a:off x="1619248" y="1869440"/>
            <a:ext cx="4547872" cy="292786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104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659-FB26-F63C-4323-583BA44F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i="1" dirty="0"/>
              <a:t>Timer-based model: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EA594-6F6B-C7DD-E6C5-2F0EFCD1C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87" y="781276"/>
            <a:ext cx="8401506" cy="529544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AD6AFB1-A6DC-B449-102C-39A6C9E4D377}"/>
              </a:ext>
            </a:extLst>
          </p:cNvPr>
          <p:cNvSpPr/>
          <p:nvPr/>
        </p:nvSpPr>
        <p:spPr>
          <a:xfrm>
            <a:off x="6133010" y="2220685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FBF753-5478-80D8-C6A2-A876BFA733A6}"/>
              </a:ext>
            </a:extLst>
          </p:cNvPr>
          <p:cNvSpPr/>
          <p:nvPr/>
        </p:nvSpPr>
        <p:spPr>
          <a:xfrm>
            <a:off x="7097485" y="2220685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AFF642-65FA-E206-026D-03819FCB722F}"/>
              </a:ext>
            </a:extLst>
          </p:cNvPr>
          <p:cNvSpPr/>
          <p:nvPr/>
        </p:nvSpPr>
        <p:spPr>
          <a:xfrm>
            <a:off x="6096000" y="4308081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7EBC24-D1ED-D285-20B2-677F84D4E709}"/>
              </a:ext>
            </a:extLst>
          </p:cNvPr>
          <p:cNvSpPr/>
          <p:nvPr/>
        </p:nvSpPr>
        <p:spPr>
          <a:xfrm>
            <a:off x="7138850" y="4308081"/>
            <a:ext cx="446315" cy="23948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41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ECC3-6837-EAF3-9AFA-DD81C454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B0A4-747E-B2E6-C29D-25C252F0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8" y="357789"/>
            <a:ext cx="8061101" cy="553289"/>
          </a:xfrm>
        </p:spPr>
        <p:txBody>
          <a:bodyPr>
            <a:normAutofit/>
          </a:bodyPr>
          <a:lstStyle/>
          <a:p>
            <a:r>
              <a:rPr lang="en-US" sz="3000" i="1" dirty="0"/>
              <a:t>Timer-based model: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19727-AF66-DB7B-EEED-A9E46E82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048"/>
            <a:ext cx="12192000" cy="11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8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8B20-D893-C3FC-1CC5-A61DD625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3. Design Objectives</a:t>
            </a:r>
            <a:br>
              <a:rPr lang="en-US" sz="3600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83D77-312C-99B7-5F92-748F3DE50064}"/>
              </a:ext>
            </a:extLst>
          </p:cNvPr>
          <p:cNvSpPr txBox="1"/>
          <p:nvPr/>
        </p:nvSpPr>
        <p:spPr>
          <a:xfrm>
            <a:off x="324528" y="965506"/>
            <a:ext cx="1186747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Glitch-free switching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Deadlock-free operation under clock failure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Autonomous failover and safe recovery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operation under </a:t>
            </a: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dual-clock failure scenarios </a:t>
            </a:r>
            <a:endParaRPr kumimoji="0" lang="vi-VN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external reference clock required </a:t>
            </a:r>
            <a:endParaRPr kumimoji="0" lang="vi-VN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CDC across clock domains </a:t>
            </a:r>
          </a:p>
        </p:txBody>
      </p:sp>
    </p:spTree>
    <p:extLst>
      <p:ext uri="{BB962C8B-B14F-4D97-AF65-F5344CB8AC3E}">
        <p14:creationId xmlns:p14="http://schemas.microsoft.com/office/powerpoint/2010/main" val="4200726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20093-BAF2-CDD6-BF27-E5A46832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780469"/>
            <a:ext cx="8061101" cy="553289"/>
          </a:xfrm>
        </p:spPr>
        <p:txBody>
          <a:bodyPr>
            <a:normAutofit/>
          </a:bodyPr>
          <a:lstStyle/>
          <a:p>
            <a:r>
              <a:rPr lang="en-US" sz="3000" i="1" dirty="0"/>
              <a:t>Proposed-block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B38D1-274F-3A3C-4C10-0ED1233FD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472" y="1144199"/>
            <a:ext cx="3106091" cy="5213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AA33C3-E47C-AB6E-E214-3169D245DD01}"/>
              </a:ext>
            </a:extLst>
          </p:cNvPr>
          <p:cNvSpPr txBox="1"/>
          <p:nvPr/>
        </p:nvSpPr>
        <p:spPr>
          <a:xfrm>
            <a:off x="370114" y="271929"/>
            <a:ext cx="730431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3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  <a:p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09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7BEE-04C6-0921-C726-EC007A5F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1:</a:t>
            </a:r>
            <a:br>
              <a:rPr lang="vi-VN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7529F-EAC6-FEE9-11B0-A29CB1CE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837838"/>
            <a:ext cx="7316221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2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E641-496D-DBF1-0F32-F9D6378B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2:</a:t>
            </a:r>
            <a:br>
              <a:rPr lang="vi-VN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5A56D4-D077-6A8E-0318-10979CE9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675" y="780449"/>
            <a:ext cx="8208225" cy="54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99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1B9A-2B7C-DFA3-5F04-784FE4BD8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err="1"/>
              <a:t>Layer</a:t>
            </a:r>
            <a:r>
              <a:rPr lang="vi-VN" dirty="0"/>
              <a:t> 3:</a:t>
            </a:r>
            <a:br>
              <a:rPr lang="vi-V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6EABC-2A10-0AD7-ADB5-1EF7EB1E0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3" y="847364"/>
            <a:ext cx="10917174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5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3017-DA96-1EC2-572A-F1538EF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Proposed-scheme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DBEBC-E351-8D0F-6948-E11F6D88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24" y="851273"/>
            <a:ext cx="8687447" cy="56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6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0152-69F0-D2D8-E993-3B759CB0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Proven: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EA1DBF-5729-9FF5-6D05-E05F29BB5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775"/>
            <a:ext cx="121920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6FBB24-E07A-7233-7BAD-75FE3E727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2" y="4562475"/>
            <a:ext cx="78771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934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AB23D0-5B6A-5AD5-C3D5-7FC274B4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779"/>
          <a:stretch>
            <a:fillRect/>
          </a:stretch>
        </p:blipFill>
        <p:spPr>
          <a:xfrm>
            <a:off x="0" y="3761071"/>
            <a:ext cx="12192000" cy="1948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74C9A3-6972-5EE2-F489-53532908A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5289"/>
            <a:ext cx="12192000" cy="173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6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9EC8-41C0-E3B6-CA90-8A699FEC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Solved problems: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99E3-AF66-CAD1-437E-05050C9A68EA}"/>
              </a:ext>
            </a:extLst>
          </p:cNvPr>
          <p:cNvSpPr txBox="1"/>
          <p:nvPr/>
        </p:nvSpPr>
        <p:spPr>
          <a:xfrm>
            <a:off x="406400" y="1107948"/>
            <a:ext cx="254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Old version: cannot solve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152387-93C0-9231-EE99-7F4D5B2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6830"/>
            <a:ext cx="12192000" cy="2320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817784-5473-4A5A-A62E-CD4661AF8178}"/>
              </a:ext>
            </a:extLst>
          </p:cNvPr>
          <p:cNvSpPr txBox="1"/>
          <p:nvPr/>
        </p:nvSpPr>
        <p:spPr>
          <a:xfrm>
            <a:off x="324528" y="3757498"/>
            <a:ext cx="2324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 version: can solve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328AC-D80C-D977-80FE-7A974A50F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220"/>
            <a:ext cx="12192000" cy="168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45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F6AC-5702-30FF-D325-7FF5ABC9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Still can’t solve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33541-54B4-DD1E-97CB-B8A06990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6658"/>
            <a:ext cx="12192000" cy="1821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F84AD-55BA-00F1-4157-BB2E7BF72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4447"/>
            <a:ext cx="12192000" cy="1664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DF8DD2-81DC-A3C0-F744-4E43B05AED2A}"/>
              </a:ext>
            </a:extLst>
          </p:cNvPr>
          <p:cNvSpPr txBox="1"/>
          <p:nvPr/>
        </p:nvSpPr>
        <p:spPr>
          <a:xfrm>
            <a:off x="538480" y="965115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C3B34-F537-45CD-2513-BB6844D75E51}"/>
              </a:ext>
            </a:extLst>
          </p:cNvPr>
          <p:cNvSpPr txBox="1"/>
          <p:nvPr/>
        </p:nvSpPr>
        <p:spPr>
          <a:xfrm>
            <a:off x="487760" y="338732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4184585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3CF6-5BE5-A30B-8033-E68EEFDC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5" y="814989"/>
            <a:ext cx="12063415" cy="923403"/>
          </a:xfrm>
        </p:spPr>
        <p:txBody>
          <a:bodyPr>
            <a:noAutofit/>
          </a:bodyPr>
          <a:lstStyle/>
          <a:p>
            <a:r>
              <a:rPr lang="vi-VN" sz="2800" b="0" dirty="0" err="1">
                <a:solidFill>
                  <a:schemeClr val="tx1"/>
                </a:solidFill>
              </a:rPr>
              <a:t>Table</a:t>
            </a:r>
            <a:r>
              <a:rPr lang="vi-VN" sz="2800" b="0" dirty="0">
                <a:solidFill>
                  <a:schemeClr val="tx1"/>
                </a:solidFill>
              </a:rPr>
              <a:t>: </a:t>
            </a:r>
            <a:r>
              <a:rPr lang="en-US" sz="2800" b="0" dirty="0">
                <a:solidFill>
                  <a:schemeClr val="tx1"/>
                </a:solidFill>
              </a:rPr>
              <a:t>Feature and Implementation Comparison for Various Clock Multiplexer Designs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DD39D-9491-C5D7-6BA8-5B881A6B0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8392"/>
            <a:ext cx="12192000" cy="27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7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2C54-DD84-83AC-F896-D9B27EEE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7CBC64-926C-7A39-39D8-0BA656ED3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43" y="950157"/>
            <a:ext cx="1159532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Proposed a fully autonomous, robust GFCM for high-reliability systems </a:t>
            </a:r>
            <a:endParaRPr lang="vi-V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Ensures: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Glitch-free switching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Deadlock-free operation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Automatic recovery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Safe handling of clock failures (including simultaneous loss)</a:t>
            </a:r>
            <a:endParaRPr lang="vi-V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 external reference clock required 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324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91AF-680B-13BB-CA10-0C6CE27D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Future Work</a:t>
            </a:r>
            <a:br>
              <a:rPr lang="en-US" sz="3600" dirty="0"/>
            </a:br>
            <a:br>
              <a:rPr lang="en-US" sz="3600" dirty="0"/>
            </a:b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478D7B-8A15-39C8-FF24-9ED67C9B4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64" y="780449"/>
            <a:ext cx="1186747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architecture to support multiplexing of more than two clock domains for complex SoC systems </a:t>
            </a:r>
            <a:endParaRPr kumimoji="0" lang="vi-VN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ultra-low-power optimizations via adaptive failure detection and resource-efficient monitoring logic </a:t>
            </a:r>
          </a:p>
        </p:txBody>
      </p:sp>
    </p:spTree>
    <p:extLst>
      <p:ext uri="{BB962C8B-B14F-4D97-AF65-F5344CB8AC3E}">
        <p14:creationId xmlns:p14="http://schemas.microsoft.com/office/powerpoint/2010/main" val="2909038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7CED-8D01-F288-16E8-CDDCDF81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449" y="2527368"/>
            <a:ext cx="8061101" cy="553289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59286989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3090</TotalTime>
  <Words>448</Words>
  <Application>Microsoft Office PowerPoint</Application>
  <PresentationFormat>Widescreen</PresentationFormat>
  <Paragraphs>101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Times New Roman</vt:lpstr>
      <vt:lpstr>UTM Avo</vt:lpstr>
      <vt:lpstr>Wingdings</vt:lpstr>
      <vt:lpstr>Vicostone Template</vt:lpstr>
      <vt:lpstr>PowerPoint Presentation</vt:lpstr>
      <vt:lpstr>Introduction</vt:lpstr>
      <vt:lpstr>Contents</vt:lpstr>
      <vt:lpstr>1.Problems:</vt:lpstr>
      <vt:lpstr>PowerPoint Presentation</vt:lpstr>
      <vt:lpstr>Deadclock</vt:lpstr>
      <vt:lpstr>Main problem:</vt:lpstr>
      <vt:lpstr>Deadclock</vt:lpstr>
      <vt:lpstr>2. Classical Model</vt:lpstr>
      <vt:lpstr>Break-before-make model:</vt:lpstr>
      <vt:lpstr>Break-before-make model:</vt:lpstr>
      <vt:lpstr>Timer-based model:</vt:lpstr>
      <vt:lpstr>Timer-based model:</vt:lpstr>
      <vt:lpstr>3. Design Objectives </vt:lpstr>
      <vt:lpstr>Proposed-block diagram</vt:lpstr>
      <vt:lpstr>Layer 1: </vt:lpstr>
      <vt:lpstr>Layer 2: </vt:lpstr>
      <vt:lpstr>Layer 3: </vt:lpstr>
      <vt:lpstr>Proposed-scheme</vt:lpstr>
      <vt:lpstr>Proven:</vt:lpstr>
      <vt:lpstr>PowerPoint Presentation</vt:lpstr>
      <vt:lpstr>Solved problems:</vt:lpstr>
      <vt:lpstr>Still can’t solve</vt:lpstr>
      <vt:lpstr>Table: Feature and Implementation Comparison for Various Clock Multiplexer Designs</vt:lpstr>
      <vt:lpstr>Conclusion</vt:lpstr>
      <vt:lpstr>Future Work  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Truong Hai Minh</dc:creator>
  <cp:lastModifiedBy>Vu Thi Phuong</cp:lastModifiedBy>
  <cp:revision>16</cp:revision>
  <dcterms:created xsi:type="dcterms:W3CDTF">2026-03-16T10:06:54Z</dcterms:created>
  <dcterms:modified xsi:type="dcterms:W3CDTF">2026-04-16T11:02:58Z</dcterms:modified>
</cp:coreProperties>
</file>